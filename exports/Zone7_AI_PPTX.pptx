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ARR (₹ Cr)</c:v>
                </c:pt>
              </c:strCache>
            </c:strRef>
          </c:tx>
          <c:cat>
            <c:strRef>
              <c:f>Sheet1!$A$2:$A$4</c:f>
              <c:strCache>
                <c:ptCount val="3"/>
                <c:pt idx="0">
                  <c:v>Year 1</c:v>
                </c:pt>
                <c:pt idx="1">
                  <c:v>Year 2</c:v>
                </c:pt>
                <c:pt idx="2">
                  <c:v>Year 3</c:v>
                </c:pt>
              </c:strCache>
            </c:strRef>
          </c:cat>
          <c:val>
            <c:numRef>
              <c:f>Sheet1!$B$2:$B$4</c:f>
              <c:numCache>
                <c:formatCode>General</c:formatCode>
                <c:ptCount val="3"/>
                <c:pt idx="0">
                  <c:v>1.2</c:v>
                </c:pt>
                <c:pt idx="1">
                  <c:v>4.8</c:v>
                </c:pt>
                <c:pt idx="2">
                  <c:v>14.5</c:v>
                </c:pt>
              </c:numCache>
            </c:numRef>
          </c:val>
        </c:ser>
        <c:ser>
          <c:idx val="1"/>
          <c:order val="1"/>
          <c:tx>
            <c:strRef>
              <c:f>Sheet1!$C$1</c:f>
              <c:strCache>
                <c:ptCount val="1"/>
                <c:pt idx="0">
                  <c:v>Gross Margin (%)</c:v>
                </c:pt>
              </c:strCache>
            </c:strRef>
          </c:tx>
          <c:cat>
            <c:strRef>
              <c:f>Sheet1!$A$2:$A$4</c:f>
              <c:strCache>
                <c:ptCount val="3"/>
                <c:pt idx="0">
                  <c:v>Year 1</c:v>
                </c:pt>
                <c:pt idx="1">
                  <c:v>Year 2</c:v>
                </c:pt>
                <c:pt idx="2">
                  <c:v>Year 3</c:v>
                </c:pt>
              </c:strCache>
            </c:strRef>
          </c:cat>
          <c:val>
            <c:numRef>
              <c:f>Sheet1!$C$2:$C$4</c:f>
              <c:numCache>
                <c:formatCode>General</c:formatCode>
                <c:ptCount val="3"/>
                <c:pt idx="0">
                  <c:v>72</c:v>
                </c:pt>
                <c:pt idx="1">
                  <c:v>79</c:v>
                </c:pt>
                <c:pt idx="2">
                  <c:v>83</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Allocation (%)</c:v>
                </c:pt>
              </c:strCache>
            </c:strRef>
          </c:tx>
          <c:cat>
            <c:strRef>
              <c:f>Sheet1!$A$2:$A$6</c:f>
              <c:strCache>
                <c:ptCount val="5"/>
                <c:pt idx="0">
                  <c:v>Product Development And Ai Research</c:v>
                </c:pt>
                <c:pt idx="1">
                  <c:v>Compliance Security And Regulatory Certifications</c:v>
                </c:pt>
                <c:pt idx="2">
                  <c:v>Sales And Marketing Expansion</c:v>
                </c:pt>
                <c:pt idx="3">
                  <c:v>Operations Talent And Infrastructure</c:v>
                </c:pt>
                <c:pt idx="4">
                  <c:v>Contingency And Working Capital</c:v>
                </c:pt>
              </c:strCache>
            </c:strRef>
          </c:cat>
          <c:val>
            <c:numRef>
              <c:f>Sheet1!$B$2:$B$6</c:f>
              <c:numCache>
                <c:formatCode>General</c:formatCode>
                <c:ptCount val="5"/>
                <c:pt idx="0">
                  <c:v>2500000.0</c:v>
                </c:pt>
                <c:pt idx="1">
                  <c:v>1500000.0</c:v>
                </c:pt>
                <c:pt idx="2">
                  <c:v>2000000.0</c:v>
                </c:pt>
                <c:pt idx="3">
                  <c:v>1000000.0</c:v>
                </c:pt>
                <c:pt idx="4">
                  <c:v>1000000.0</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legend>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SCRIPT — SLIDE 1: The Hidden Cost of Injuries</a:t>
            </a:r>
          </a:p>
          <a:p/>
          <a:p>
            <a:r>
              <a:t>Key Takeaway: Elite clubs lose &gt;$5 B annually to preventable non‑contact injuries.</a:t>
            </a:r>
          </a:p>
          <a:p/>
          <a:p>
            <a:r>
              <a:t>Narrative: Performance staff spend &gt;30% of their time reconciling fragmented GPS, force‑plate, and sleep data, while franchises shoulder lost revenue from unplayed contracts, medical expenses, and diminished tournament outcomes. The lack of predictive, integrated analytics creates a costly blind spot.</a:t>
            </a:r>
          </a:p>
          <a:p/>
          <a:p>
            <a:r>
              <a:t>Talking Points:</a:t>
            </a:r>
          </a:p>
          <a:p>
            <a:r>
              <a:t>- **Financial Drain:** $5 B+ lost each year across pro and NCAA tiers</a:t>
            </a:r>
          </a:p>
          <a:p>
            <a:r>
              <a:t>- **Data Fragmentation:** Multiple siloed wearables and health records</a:t>
            </a:r>
          </a:p>
          <a:p>
            <a:r>
              <a:t>- **Operational Inefficiency:** 30% of staff time on data wrangling</a:t>
            </a:r>
          </a:p>
          <a:p>
            <a:r>
              <a:t>- **Competitive Disadvantage:** Teams without predictive tools fall behind</a:t>
            </a:r>
          </a:p>
          <a:p/>
          <a:p>
            <a:r>
              <a:t>[AI Image Prompt]: A split‑screen illustration: left side a chaotic collage of wearable devices, EHR screens, and spreadsheets; right side a clean dashboard with injury risk heatmaps, overlaid on a stadium silhouette, high‑contrast, realistic style, 4K resolution.</a:t>
            </a:r>
          </a:p>
          <a:p>
            <a:r>
              <a:t>[Slide Layout Recommendation]: Two‑column layout: left column bullet points with icons, right column large image occupying full height.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SCRIPT — SLIDE 2: Market Opportunity</a:t>
            </a:r>
          </a:p>
          <a:p/>
          <a:p>
            <a:r>
              <a:t>Key Takeaway: A $140 M near‑term TAM with a $3 B long‑term upside in AI‑driven injury prevention.</a:t>
            </a:r>
          </a:p>
          <a:p/>
          <a:p>
            <a:r>
              <a:t>Narrative: Bottom‑up analysis of ~400 elite clubs (NFL, NBA, MLB, top NCAA) at a realistic $100k ACV yields $40 M TAM; expanding to 1,400 clubs worldwide and ancillary leagues pushes the addressable market to $140 M. The broader AI injury‑prevention slice of the $30 B sports‑tech market represents a $3 B long‑term opportunity as compliance and data integration become industry standards.</a:t>
            </a:r>
          </a:p>
          <a:p/>
          <a:p>
            <a:r>
              <a:t>Talking Points:</a:t>
            </a:r>
          </a:p>
          <a:p>
            <a:r>
              <a:t>- **Validated TAM:** $40 M (core) → $140 M (expanded)</a:t>
            </a:r>
          </a:p>
          <a:p>
            <a:r>
              <a:t>- **Long‑Term Slice:** Up to $3 B AI injury‑prevention market</a:t>
            </a:r>
          </a:p>
          <a:p>
            <a:r>
              <a:t>- **Growth Drivers:** Rising health‑data regulations, performance‑money pressure, wearables adoption</a:t>
            </a:r>
          </a:p>
          <a:p/>
          <a:p>
            <a:r>
              <a:t>[AI Image Prompt]: A layered market map graphic: bottom layer shows global sports‑tech market ($30 B), middle layer highlights AI injury‑prevention slice (10%), top layer zooms into elite club segment with icons of NFL, NBA, NCAA, annotated ACV numbers, clean vector style.</a:t>
            </a:r>
          </a:p>
          <a:p>
            <a:r>
              <a:t>[Slide Layout Recommendation]: Full‑width market map with callout boxes; concise text overlay on left.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SCRIPT — SLIDE 3: Our Solution</a:t>
            </a:r>
          </a:p>
          <a:p/>
          <a:p>
            <a:r>
              <a:t>Key Takeaway: AI platform that predicts injuries 7 days ahead and automates load management.</a:t>
            </a:r>
          </a:p>
          <a:p/>
          <a:p>
            <a:r>
              <a:t>Narrative: Zone7 connects to any wearable, EHR, or match‑tracking system via a unified API, feeds data into a proprietary deep‑learning model trained on 200M+ hours of elite performance data, and delivers daily risk scores with actionable periodization recommendations. The SaaS dashboard provides real‑time alerts, weekly plans, and audit trails for medical staff.</a:t>
            </a:r>
          </a:p>
          <a:p/>
          <a:p>
            <a:r>
              <a:t>Talking Points:</a:t>
            </a:r>
          </a:p>
          <a:p>
            <a:r>
              <a:t>- **Universal Integration:** API works with all wearables &amp; health records</a:t>
            </a:r>
          </a:p>
          <a:p>
            <a:r>
              <a:t>- **Predictive Engine:** 7‑day injury risk forecasts</a:t>
            </a:r>
          </a:p>
          <a:p>
            <a:r>
              <a:t>- **Actionable Output:** Automated load‑management &amp; periodization</a:t>
            </a:r>
          </a:p>
          <a:p>
            <a:r>
              <a:t>- **Compliance‑Ready:** HIPAA, GDPR, CCPA built‑in</a:t>
            </a:r>
          </a:p>
          <a:p/>
          <a:p>
            <a:r>
              <a:t>[AI Image Prompt]: A sleek UI mockup showing a dashboard with a risk heatmap over a player silhouette, real‑time alerts list, and a weekly periodization calendar, rendered in a modern dark theme with neon accent colors.</a:t>
            </a:r>
          </a:p>
          <a:p>
            <a:r>
              <a:t>[Slide Layout Recommendation]: Center large dashboard screenshot, surrounding three icons representing integration, prediction, and compliance with brief captions.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SCRIPT — SLIDE 4: Defensible Moats</a:t>
            </a:r>
          </a:p>
          <a:p/>
          <a:p>
            <a:r>
              <a:t>Key Takeaway: Data depth, patented models, and network effects protect Zone7’s lead.</a:t>
            </a:r>
          </a:p>
          <a:p/>
          <a:p>
            <a:r>
              <a:t>Narrative: Our 200M‑hour multimodal data lake continuously expands as clubs contribute anonymized data, creating a virtuous network effect. Patented deep‑learning architectures and a HIPAA‑grade security layer are difficult to replicate. Competitors lack universal API coverage and the long‑forecast horizon that our platform uniquely offers.</a:t>
            </a:r>
          </a:p>
          <a:p/>
          <a:p>
            <a:r>
              <a:t>Talking Points:</a:t>
            </a:r>
          </a:p>
          <a:p>
            <a:r>
              <a:t>- **Proprietary Data Lake:** 200M+ hours, growing with each client</a:t>
            </a:r>
          </a:p>
          <a:p>
            <a:r>
              <a:t>- **Patented Algorithms:** Deep‑learning injury prediction patents filed</a:t>
            </a:r>
          </a:p>
          <a:p>
            <a:r>
              <a:t>- **Network Effect:** Club data improves model for all users</a:t>
            </a:r>
          </a:p>
          <a:p>
            <a:r>
              <a:t>- **Regulatory Edge:** Built‑in HIPAA, GDPR, CCPA compliance</a:t>
            </a:r>
          </a:p>
          <a:p/>
          <a:p>
            <a:r>
              <a:t>[AI Image Prompt]: A defensive moat diagram: concentric circles labeled Data Lake, Patents, Network Effect, Compliance, with competitor icons outside the outer ring, stylized like a fortress, high‑detail illustration.</a:t>
            </a:r>
          </a:p>
          <a:p>
            <a:r>
              <a:t>[Slide Layout Recommendation]: Circular diagram centered, with brief text annotations around each 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SCRIPT — SLIDE 5: Business Model &amp; Traction</a:t>
            </a:r>
          </a:p>
          <a:p/>
          <a:p>
            <a:r>
              <a:t>Key Takeaway: Tiered SaaS subscriptions and high‑margin DSaaS consulting drive recurring revenue.</a:t>
            </a:r>
          </a:p>
          <a:p/>
          <a:p>
            <a:r>
              <a:t>Narrative: We sell annual enterprise licenses per team: Zone7 Audit ($30k), Zone7 Pro ($99k), Zone7 Elite ($250k) with optional Data‑Science‑as‑a‑Service retainers. Early pilots with 3 NBA clubs and 2 NCAA powerhouses show a 20% reduction in injury days and $1.2 M cost avoidance in the first season.</a:t>
            </a:r>
          </a:p>
          <a:p/>
          <a:p>
            <a:r>
              <a:t>Talking Points:</a:t>
            </a:r>
          </a:p>
          <a:p>
            <a:r>
              <a:t>- **Revenue Streams:** SaaS subscriptions + DSaaS consulting</a:t>
            </a:r>
          </a:p>
          <a:p>
            <a:r>
              <a:t>- **Pricing Tiers:** $30k‑$250k per team per year</a:t>
            </a:r>
          </a:p>
          <a:p>
            <a:r>
              <a:t>- **Pilot Results:** 20% fewer injury days, $1.2 M avoided costs</a:t>
            </a:r>
          </a:p>
          <a:p>
            <a:r>
              <a:t>- **Gross Margin:** 78% after compliance overhead</a:t>
            </a:r>
          </a:p>
          <a:p/>
          <a:p>
            <a:r>
              <a:t>[AI Image Prompt]: A funnel graphic showing lead generation → pilot → full‑contract, with dollar amounts at each stage, plus a side‑by‑side bar chart of injury‑day reduction vs. cost avoidance, clean corporate style.</a:t>
            </a:r>
          </a:p>
          <a:p>
            <a:r>
              <a:t>[Slide Layout Recommendation]: Left side funnel, right side KPI bar chart, with concise captions.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SCRIPT — SLIDE 6: Go‑to‑Market Strategy</a:t>
            </a:r>
          </a:p>
          <a:p/>
          <a:p>
            <a:r>
              <a:t>Key Takeaway: Target elite pro clubs and top NCAA programs via pilot‑first, partnership‑driven expansion.</a:t>
            </a:r>
          </a:p>
          <a:p/>
          <a:p>
            <a:r>
              <a:t>Narrative: We will launch a 12‑month pilot program with 5 flagship clubs, leveraging league partnerships and wearable manufacturers for co‑marketing. Account‑based marketing, LinkedIn outreach, and industry conferences will feed the pipeline. Success metrics from pilots will accelerate upsell to Pro and Elite tiers.</a:t>
            </a:r>
          </a:p>
          <a:p/>
          <a:p>
            <a:r>
              <a:t>Talking Points:</a:t>
            </a:r>
          </a:p>
          <a:p>
            <a:r>
              <a:t>- **Pilot Program:** 5 flagship clubs, 12‑month proof points</a:t>
            </a:r>
          </a:p>
          <a:p>
            <a:r>
              <a:t>- **Channel Partnerships:** Wearable OEMs, league data providers</a:t>
            </a:r>
          </a:p>
          <a:p>
            <a:r>
              <a:t>- **ABM Tactics:** LinkedIn, conferences, webinars</a:t>
            </a:r>
          </a:p>
          <a:p>
            <a:r>
              <a:t>- **Upsell Path:** Audit → Pro → Elite</a:t>
            </a:r>
          </a:p>
          <a:p/>
          <a:p>
            <a:r>
              <a:t>[AI Image Prompt]: A roadmap timeline graphic showing Q1‑Q4 milestones: pilot kickoff, data integration, ROI case study, full‑contract rollout, with icons for partnership, conference, and sales, vibrant colors.</a:t>
            </a:r>
          </a:p>
          <a:p>
            <a:r>
              <a:t>[Slide Layout Recommendation]: Horizontal timeline across the slide with milestone icons above and brief descriptions below.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SCRIPT — SLIDE 7: Financial Projections</a:t>
            </a:r>
          </a:p>
          <a:p/>
          <a:p>
            <a:r>
              <a:t>Key Takeaway: Projected $45 M ARR by Year 5 with 70% EBITDA margin.</a:t>
            </a:r>
          </a:p>
          <a:p/>
          <a:p>
            <a:r>
              <a:t>Narrative: Assuming 40 Elite contracts, 80 Pro contracts, and 120 Audit contracts by Year 5, ARR reaches $45 M. Gross margin stabilizes at 78% after scaling compliance and data‑engineering costs. Break‑even occurs in Year 2, with a 12‑month CAC payback under realistic assumptions.</a:t>
            </a:r>
          </a:p>
          <a:p/>
          <a:p>
            <a:r>
              <a:t>Talking Points:</a:t>
            </a:r>
          </a:p>
          <a:p>
            <a:r>
              <a:t>- **Year 5 ARR:** $45 M</a:t>
            </a:r>
          </a:p>
          <a:p>
            <a:r>
              <a:t>- **EBITDA Margin:** 70%</a:t>
            </a:r>
          </a:p>
          <a:p>
            <a:r>
              <a:t>- **Break‑Even:** Year 2</a:t>
            </a:r>
          </a:p>
          <a:p>
            <a:r>
              <a:t>- **CAC Payback:** ≤12 months</a:t>
            </a:r>
          </a:p>
          <a:p/>
          <a:p>
            <a:r>
              <a:t>[AI Image Prompt]: A stacked bar chart of ARR by year with color‑coded contract tiers, plus a line graph overlay showing EBITDA margin trajectory, professional finance visual style.</a:t>
            </a:r>
          </a:p>
          <a:p>
            <a:r>
              <a:t>[Slide Layout Recommendation]: Left side bar chart, right side line graph, with key numbers highlighted in callout boxes.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SCRIPT — SLIDE 8: Risk Mitigation &amp; Compliance</a:t>
            </a:r>
          </a:p>
          <a:p/>
          <a:p>
            <a:r>
              <a:t>Key Takeaway: Robust security, regulatory, and AI governance framework reduces execution risk.</a:t>
            </a:r>
          </a:p>
          <a:p/>
          <a:p>
            <a:r>
              <a:t>Narrative: We have a 12‑point mitigation plan covering HIPAA Business Associate Agreements, end‑to‑end TLS/AES‑256 encryption, OAuth 2.0 API security, AI model robustness testing, and pursuit of FDA 510(k) clearance where applicable. Ongoing SOC 2 Type II and ISO 27001 audits ensure continuous compliance.</a:t>
            </a:r>
          </a:p>
          <a:p/>
          <a:p>
            <a:r>
              <a:t>Talking Points:</a:t>
            </a:r>
          </a:p>
          <a:p>
            <a:r>
              <a:t>- **HIPAA/BAA:** All partners signed</a:t>
            </a:r>
          </a:p>
          <a:p>
            <a:r>
              <a:t>- **Encryption:** TLS 1.3 + AES‑256 at rest</a:t>
            </a:r>
          </a:p>
          <a:p>
            <a:r>
              <a:t>- **API Security:** OAuth 2.0 with least‑privilege scopes</a:t>
            </a:r>
          </a:p>
          <a:p>
            <a:r>
              <a:t>- **AI Governance:** Regular adversarial testing &amp; bias audits</a:t>
            </a:r>
          </a:p>
          <a:p>
            <a:r>
              <a:t>- **Regulatory Path:** FDA 510(k) roadmap</a:t>
            </a:r>
          </a:p>
          <a:p/>
          <a:p>
            <a:r>
              <a:t>[AI Image Prompt]: A shield infographic divided into sections labeled Data, API, AI, Regulatory, each with a checkmark icon, rendered in corporate blue‑gray palette.</a:t>
            </a:r>
          </a:p>
          <a:p>
            <a:r>
              <a:t>[Slide Layout Recommendation]: Centered shield graphic with bullet points arranged radially around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SCRIPT — SLIDE 9: Funding Ask &amp; Use of Proceeds</a:t>
            </a:r>
          </a:p>
          <a:p/>
          <a:p>
            <a:r>
              <a:t>Key Takeaway: Seeking $8 M Series A to dominate the elite sports AI injury‑prevention market.</a:t>
            </a:r>
          </a:p>
          <a:p/>
          <a:p>
            <a:r>
              <a:t>Narrative: The capital will accelerate product development, expand the data lake, secure compliance certifications, and scale the sales engine. A disciplined spend plan ensures runway to profitability and positions Zone7 for a strategic exit or IPO within 7‑8 years.</a:t>
            </a:r>
          </a:p>
          <a:p/>
          <a:p>
            <a:r>
              <a:t>Talking Points:</a:t>
            </a:r>
          </a:p>
          <a:p>
            <a:r>
              <a:t>- **Product &amp; AI R&amp;D:** $2.5 M</a:t>
            </a:r>
          </a:p>
          <a:p>
            <a:r>
              <a:t>- **Compliance &amp; Security:** $1.5 M</a:t>
            </a:r>
          </a:p>
          <a:p>
            <a:r>
              <a:t>- **Sales &amp; Marketing:** $2.0 M</a:t>
            </a:r>
          </a:p>
          <a:p>
            <a:r>
              <a:t>- **Operations &amp; Talent:** $1.0 M</a:t>
            </a:r>
          </a:p>
          <a:p>
            <a:r>
              <a:t>- **Contingency &amp; Working Capital:** $1.0 M</a:t>
            </a:r>
          </a:p>
          <a:p/>
          <a:p>
            <a:r>
              <a:t>[AI Image Prompt]: A pie chart showing allocation percentages of the $8 M raise, with each slice labeled and a subtle background of a stadium silhouette, high‑resolution, modern infographic style.</a:t>
            </a:r>
          </a:p>
          <a:p>
            <a:r>
              <a:t>[Slide Layout Recommendation]: Left side pie chart, right side bullet list of allocations with icons, concise summary at bottom.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CAPITAL ALLOCATION &amp; PROCEEDS DEPLOYMENT:</a:t>
            </a:r>
          </a:p>
          <a:p>
            <a:r>
              <a:t>Highlights: 5 key investment pillars.</a:t>
            </a:r>
          </a:p>
          <a:p>
            <a:r>
              <a:t>Use of Funds: Product Development And Ai Research: 2500000.0%, Compliance Security And Regulatory Certifications: 1500000.0%, Sales And Marketing Expansion: 2000000.0%, Operations Talent And Infrastructure: 1000000.0%, Contingency And Working Capital: 1000000.0%</a:t>
            </a:r>
          </a:p>
          <a:p>
            <a:r>
              <a:t>Target Runway: 18-24 months to Series A milestone.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457200"/>
          </a:xfrm>
          <a:prstGeom prst="rect">
            <a:avLst/>
          </a:prstGeom>
          <a:noFill/>
        </p:spPr>
        <p:txBody>
          <a:bodyPr wrap="none">
            <a:spAutoFit/>
          </a:bodyPr>
          <a:lstStyle/>
          <a:p>
            <a:pPr>
              <a:defRPr sz="1100" b="1">
                <a:solidFill>
                  <a:srgbClr val="D4AF37"/>
                </a:solidFill>
              </a:defRPr>
            </a:pPr>
            <a:r>
              <a:t>APEX VENTURE PARTNERS · EXECUTIVE STRATEGY DECK</a:t>
            </a:r>
          </a:p>
        </p:txBody>
      </p:sp>
      <p:sp>
        <p:nvSpPr>
          <p:cNvPr id="4" name="TextBox 3"/>
          <p:cNvSpPr txBox="1"/>
          <p:nvPr/>
        </p:nvSpPr>
        <p:spPr>
          <a:xfrm>
            <a:off x="914400" y="1188720"/>
            <a:ext cx="10362895" cy="1280160"/>
          </a:xfrm>
          <a:prstGeom prst="rect">
            <a:avLst/>
          </a:prstGeom>
          <a:noFill/>
        </p:spPr>
        <p:txBody>
          <a:bodyPr wrap="square">
            <a:spAutoFit/>
          </a:bodyPr>
          <a:lstStyle/>
          <a:p>
            <a:pPr>
              <a:defRPr sz="4400" b="1">
                <a:solidFill>
                  <a:srgbClr val="FFFFFF"/>
                </a:solidFill>
              </a:defRPr>
            </a:pPr>
            <a:r>
              <a:t>Zone7 AI</a:t>
            </a:r>
          </a:p>
        </p:txBody>
      </p:sp>
      <p:sp>
        <p:nvSpPr>
          <p:cNvPr id="5" name="TextBox 4"/>
          <p:cNvSpPr txBox="1"/>
          <p:nvPr/>
        </p:nvSpPr>
        <p:spPr>
          <a:xfrm>
            <a:off x="914400" y="2468880"/>
            <a:ext cx="10362895" cy="548640"/>
          </a:xfrm>
          <a:prstGeom prst="rect">
            <a:avLst/>
          </a:prstGeom>
          <a:noFill/>
        </p:spPr>
        <p:txBody>
          <a:bodyPr wrap="none">
            <a:spAutoFit/>
          </a:bodyPr>
          <a:lstStyle/>
          <a:p>
            <a:pPr>
              <a:defRPr sz="1800">
                <a:solidFill>
                  <a:srgbClr val="6366F1"/>
                </a:solidFill>
              </a:defRPr>
            </a:pPr>
            <a:r>
              <a:t>Autonomous Multi-Agent Deliberation &amp; Financial Feasibility Study</a:t>
            </a:r>
          </a:p>
        </p:txBody>
      </p:sp>
      <p:sp>
        <p:nvSpPr>
          <p:cNvPr id="6" name="Rounded Rectangle 5"/>
          <p:cNvSpPr/>
          <p:nvPr/>
        </p:nvSpPr>
        <p:spPr>
          <a:xfrm>
            <a:off x="914400" y="3291840"/>
            <a:ext cx="10362895" cy="2377440"/>
          </a:xfrm>
          <a:prstGeom prst="roundRect">
            <a:avLst/>
          </a:prstGeom>
          <a:solidFill>
            <a:srgbClr val="111827"/>
          </a:solidFill>
          <a:ln w="1270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rIns="365760"/>
          <a:lstStyle/>
          <a:p>
            <a:pPr algn="ctr">
              <a:defRPr sz="1100" b="1">
                <a:solidFill>
                  <a:srgbClr val="D4AF37"/>
                </a:solidFill>
              </a:defRPr>
            </a:pPr>
            <a:r>
              <a:t>EXECUTIVE ELEVATOR THESIS</a:t>
            </a:r>
          </a:p>
          <a:p>
            <a:br/>
            <a:pPr>
              <a:defRPr sz="1400">
                <a:solidFill>
                  <a:srgbClr val="E2E8F0"/>
                </a:solidFill>
              </a:defRPr>
            </a:pPr>
            <a:r>
              <a:t>Zone7 AI delivers enterprise‑grade, AI‑driven injury‑prevention analytics for elite sports franchises and top NCAA programs. By ingesting any wearable, EHR, or match‑tracking data into a proprietary 200M‑hour multimodal lake, our deep‑learning engine predicts non‑contact injury risk up to seven days ahead and auto‑generates load‑management plans, turning fragmented data into measurable ROI and on‑field advantage. With a $8 M Series A raise we will scale the API ecosystem, secure HIPAA‑grade compliance, and capture the $140 M near‑term TAM among 400+ high‑budget clubs, expanding to the broader $3 B AI‑injury‑prevention slice of the global sports‑tech market.</a:t>
            </a:r>
          </a:p>
        </p:txBody>
      </p:sp>
      <p:sp>
        <p:nvSpPr>
          <p:cNvPr id="7" name="TextBox 6"/>
          <p:cNvSpPr txBox="1"/>
          <p:nvPr/>
        </p:nvSpPr>
        <p:spPr>
          <a:xfrm>
            <a:off x="914400" y="6035040"/>
            <a:ext cx="10362895" cy="365760"/>
          </a:xfrm>
          <a:prstGeom prst="rect">
            <a:avLst/>
          </a:prstGeom>
          <a:noFill/>
        </p:spPr>
        <p:txBody>
          <a:bodyPr wrap="none">
            <a:spAutoFit/>
          </a:bodyPr>
          <a:lstStyle/>
          <a:p>
            <a:pPr>
              <a:defRPr sz="900">
                <a:solidFill>
                  <a:srgbClr val="64748B"/>
                </a:solidFill>
              </a:defRPr>
            </a:pPr>
            <a:r>
              <a:t>CONFIDENTIAL · PREPARED FOR INVESTORS &amp; BOARDROOM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8229600" cy="914400"/>
          </a:xfrm>
          <a:prstGeom prst="rect">
            <a:avLst/>
          </a:prstGeom>
          <a:noFill/>
        </p:spPr>
        <p:txBody>
          <a:bodyPr wrap="square">
            <a:spAutoFit/>
          </a:bodyPr>
          <a:lstStyle/>
          <a:p>
            <a:pPr>
              <a:defRPr sz="1000" b="1">
                <a:solidFill>
                  <a:srgbClr val="6366F1"/>
                </a:solidFill>
              </a:defRPr>
            </a:pPr>
            <a:r>
              <a:t>SLIDE 01 OF 09 · PROBLEM</a:t>
            </a:r>
          </a:p>
          <a:p>
            <a:pPr>
              <a:defRPr sz="2200" b="1">
                <a:solidFill>
                  <a:srgbClr val="FFFFFF"/>
                </a:solidFill>
              </a:defRPr>
            </a:pPr>
            <a:r>
              <a:t>The Hidden Cost Of Injuries</a:t>
            </a:r>
          </a:p>
        </p:txBody>
      </p:sp>
      <p:sp>
        <p:nvSpPr>
          <p:cNvPr id="4" name="TextBox 3"/>
          <p:cNvSpPr txBox="1"/>
          <p:nvPr/>
        </p:nvSpPr>
        <p:spPr>
          <a:xfrm>
            <a:off x="9326880" y="457200"/>
            <a:ext cx="1950415" cy="548640"/>
          </a:xfrm>
          <a:prstGeom prst="rect">
            <a:avLst/>
          </a:prstGeom>
          <a:noFill/>
        </p:spPr>
        <p:txBody>
          <a:bodyPr wrap="none">
            <a:spAutoFit/>
          </a:bodyPr>
          <a:lstStyle/>
          <a:p>
            <a:pPr algn="r">
              <a:defRPr sz="1000" b="1">
                <a:solidFill>
                  <a:srgbClr val="64748B"/>
                </a:solidFill>
              </a:defRPr>
            </a:pPr>
            <a:r>
              <a:t>Zone7 AI</a:t>
            </a:r>
          </a:p>
        </p:txBody>
      </p:sp>
      <p:sp>
        <p:nvSpPr>
          <p:cNvPr id="5" name="Rounded Rectangle 4"/>
          <p:cNvSpPr/>
          <p:nvPr/>
        </p:nvSpPr>
        <p:spPr>
          <a:xfrm>
            <a:off x="914400" y="1463040"/>
            <a:ext cx="10362895" cy="4480560"/>
          </a:xfrm>
          <a:prstGeom prst="roundRect">
            <a:avLst/>
          </a:prstGeom>
          <a:solidFill>
            <a:srgbClr val="111827"/>
          </a:solidFill>
          <a:ln w="1270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rIns="365760"/>
          <a:lstStyle/>
          <a:p>
            <a:pPr algn="ctr">
              <a:spcAft>
                <a:spcPts val="1000"/>
              </a:spcAft>
              <a:defRPr sz="1300" b="1" i="1">
                <a:solidFill>
                  <a:srgbClr val="D4AF37"/>
                </a:solidFill>
              </a:defRPr>
            </a:pPr>
            <a:r>
              <a:t>"Elite clubs lose &gt;$5 B annually to preventable non‑contact injuries."</a:t>
            </a:r>
          </a:p>
          <a:p>
            <a:pPr>
              <a:spcAft>
                <a:spcPts val="1000"/>
              </a:spcAft>
              <a:defRPr sz="1300">
                <a:solidFill>
                  <a:srgbClr val="E2E8F0"/>
                </a:solidFill>
              </a:defRPr>
            </a:pPr>
            <a:r>
              <a:t>Performance staff spend &gt;30% of their time reconciling fragmented GPS, force‑plate, and sleep data, while franchises shoulder lost revenue from unplayed contracts, medical expenses, and diminished tournament outcomes. The lack of predictive, integrated analytics creates a costly blind spot.</a:t>
            </a:r>
          </a:p>
          <a:p>
            <a:pPr>
              <a:spcAft>
                <a:spcPts val="600"/>
              </a:spcAft>
              <a:defRPr sz="1200">
                <a:solidFill>
                  <a:srgbClr val="FFFFFF"/>
                </a:solidFill>
              </a:defRPr>
            </a:pPr>
            <a:r>
              <a:t>•   **Financial Drain:** $5 B+ lost each year across pro and NCAA tiers</a:t>
            </a:r>
          </a:p>
          <a:p>
            <a:pPr>
              <a:spcAft>
                <a:spcPts val="600"/>
              </a:spcAft>
              <a:defRPr sz="1200">
                <a:solidFill>
                  <a:srgbClr val="E2E8F0"/>
                </a:solidFill>
              </a:defRPr>
            </a:pPr>
            <a:r>
              <a:t>•   **Data Fragmentation:** Multiple siloed wearables and health records</a:t>
            </a:r>
          </a:p>
          <a:p>
            <a:pPr>
              <a:spcAft>
                <a:spcPts val="600"/>
              </a:spcAft>
              <a:defRPr sz="1200">
                <a:solidFill>
                  <a:srgbClr val="E2E8F0"/>
                </a:solidFill>
              </a:defRPr>
            </a:pPr>
            <a:r>
              <a:t>•   **Operational Inefficiency:** 30% of staff time on data wrangling</a:t>
            </a:r>
          </a:p>
          <a:p>
            <a:pPr>
              <a:spcAft>
                <a:spcPts val="600"/>
              </a:spcAft>
              <a:defRPr sz="1200">
                <a:solidFill>
                  <a:srgbClr val="E2E8F0"/>
                </a:solidFill>
              </a:defRPr>
            </a:pPr>
            <a:r>
              <a:t>•   **Competitive Disadvantage:** Teams without predictive tools fall behind</a:t>
            </a:r>
          </a:p>
          <a:p>
            <a:pPr>
              <a:spcAft>
                <a:spcPts val="600"/>
              </a:spcAft>
              <a:defRPr sz="1100" b="1">
                <a:solidFill>
                  <a:srgbClr val="10B981"/>
                </a:solidFill>
              </a:defRPr>
            </a:pPr>
            <a:r>
              <a:t>📊 Key Metrics: $5 B annual loss | 30% staff time on data integration | &gt;200M hours of historic athlete data</a:t>
            </a:r>
          </a:p>
          <a:p>
            <a:br/>
            <a:pPr>
              <a:defRPr sz="900" i="1">
                <a:solidFill>
                  <a:srgbClr val="6366F1"/>
                </a:solidFill>
              </a:defRPr>
            </a:pPr>
            <a:r>
              <a:t>🎨 AI Image Prompt: A split‑screen illustration: left side a chaotic collage of wearable devices, EHR screens, and spreadsheets; right side a clean dashboard with injury risk heatmaps, overlaid on a stadium silhouette, high‑contrast, realistic style, 4K resolution.</a:t>
            </a:r>
          </a:p>
        </p:txBody>
      </p:sp>
      <p:sp>
        <p:nvSpPr>
          <p:cNvPr id="6" name="TextBox 5"/>
          <p:cNvSpPr txBox="1"/>
          <p:nvPr/>
        </p:nvSpPr>
        <p:spPr>
          <a:xfrm>
            <a:off x="914400" y="6126480"/>
            <a:ext cx="10362895" cy="365760"/>
          </a:xfrm>
          <a:prstGeom prst="rect">
            <a:avLst/>
          </a:prstGeom>
          <a:noFill/>
        </p:spPr>
        <p:txBody>
          <a:bodyPr wrap="none">
            <a:spAutoFit/>
          </a:bodyPr>
          <a:lstStyle/>
          <a:p>
            <a:pPr>
              <a:defRPr sz="900">
                <a:solidFill>
                  <a:srgbClr val="64748B"/>
                </a:solidFill>
              </a:defRPr>
            </a:pPr>
            <a:r>
              <a:t>Zone7 AI · Confidential Strategic Memorandum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8229600" cy="914400"/>
          </a:xfrm>
          <a:prstGeom prst="rect">
            <a:avLst/>
          </a:prstGeom>
          <a:noFill/>
        </p:spPr>
        <p:txBody>
          <a:bodyPr wrap="square">
            <a:spAutoFit/>
          </a:bodyPr>
          <a:lstStyle/>
          <a:p>
            <a:pPr>
              <a:defRPr sz="1000" b="1">
                <a:solidFill>
                  <a:srgbClr val="6366F1"/>
                </a:solidFill>
              </a:defRPr>
            </a:pPr>
            <a:r>
              <a:t>SLIDE 02 OF 09 · MARKET OPPORTUNITY</a:t>
            </a:r>
          </a:p>
          <a:p>
            <a:pPr>
              <a:defRPr sz="2200" b="1">
                <a:solidFill>
                  <a:srgbClr val="FFFFFF"/>
                </a:solidFill>
              </a:defRPr>
            </a:pPr>
            <a:r>
              <a:t>Market Opportunity</a:t>
            </a:r>
          </a:p>
        </p:txBody>
      </p:sp>
      <p:sp>
        <p:nvSpPr>
          <p:cNvPr id="4" name="TextBox 3"/>
          <p:cNvSpPr txBox="1"/>
          <p:nvPr/>
        </p:nvSpPr>
        <p:spPr>
          <a:xfrm>
            <a:off x="9326880" y="457200"/>
            <a:ext cx="1950415" cy="548640"/>
          </a:xfrm>
          <a:prstGeom prst="rect">
            <a:avLst/>
          </a:prstGeom>
          <a:noFill/>
        </p:spPr>
        <p:txBody>
          <a:bodyPr wrap="none">
            <a:spAutoFit/>
          </a:bodyPr>
          <a:lstStyle/>
          <a:p>
            <a:pPr algn="r">
              <a:defRPr sz="1000" b="1">
                <a:solidFill>
                  <a:srgbClr val="64748B"/>
                </a:solidFill>
              </a:defRPr>
            </a:pPr>
            <a:r>
              <a:t>Zone7 AI</a:t>
            </a:r>
          </a:p>
        </p:txBody>
      </p:sp>
      <p:sp>
        <p:nvSpPr>
          <p:cNvPr id="5" name="Rounded Rectangle 4"/>
          <p:cNvSpPr/>
          <p:nvPr/>
        </p:nvSpPr>
        <p:spPr>
          <a:xfrm>
            <a:off x="914400" y="1463040"/>
            <a:ext cx="10362895" cy="4480560"/>
          </a:xfrm>
          <a:prstGeom prst="roundRect">
            <a:avLst/>
          </a:prstGeom>
          <a:solidFill>
            <a:srgbClr val="111827"/>
          </a:solidFill>
          <a:ln w="1270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rIns="365760"/>
          <a:lstStyle/>
          <a:p>
            <a:pPr algn="ctr">
              <a:spcAft>
                <a:spcPts val="1000"/>
              </a:spcAft>
              <a:defRPr sz="1300" b="1" i="1">
                <a:solidFill>
                  <a:srgbClr val="D4AF37"/>
                </a:solidFill>
              </a:defRPr>
            </a:pPr>
            <a:r>
              <a:t>"A $140 M near‑term TAM with a $3 B long‑term upside in AI‑driven injury prevention."</a:t>
            </a:r>
          </a:p>
          <a:p>
            <a:pPr>
              <a:spcAft>
                <a:spcPts val="1000"/>
              </a:spcAft>
              <a:defRPr sz="1300">
                <a:solidFill>
                  <a:srgbClr val="E2E8F0"/>
                </a:solidFill>
              </a:defRPr>
            </a:pPr>
            <a:r>
              <a:t>Bottom‑up analysis of ~400 elite clubs (NFL, NBA, MLB, top NCAA) at a realistic $100k ACV yields $40 M TAM; expanding to 1,400 clubs worldwide and ancillary leagues pushes the addressable market to $140 M. The broader AI injury‑prevention slice of the $30 B sports‑tech market represents a $3 B long‑term opportunity as compliance and data integration become industry standards.</a:t>
            </a:r>
          </a:p>
          <a:p>
            <a:pPr>
              <a:spcAft>
                <a:spcPts val="600"/>
              </a:spcAft>
              <a:defRPr sz="1200">
                <a:solidFill>
                  <a:srgbClr val="FFFFFF"/>
                </a:solidFill>
              </a:defRPr>
            </a:pPr>
            <a:r>
              <a:t>•   **Validated TAM:** $40 M (core) → $140 M (expanded)</a:t>
            </a:r>
          </a:p>
          <a:p>
            <a:pPr>
              <a:spcAft>
                <a:spcPts val="600"/>
              </a:spcAft>
              <a:defRPr sz="1200">
                <a:solidFill>
                  <a:srgbClr val="E2E8F0"/>
                </a:solidFill>
              </a:defRPr>
            </a:pPr>
            <a:r>
              <a:t>•   **Long‑Term Slice:** Up to $3 B AI injury‑prevention market</a:t>
            </a:r>
          </a:p>
          <a:p>
            <a:pPr>
              <a:spcAft>
                <a:spcPts val="600"/>
              </a:spcAft>
              <a:defRPr sz="1200">
                <a:solidFill>
                  <a:srgbClr val="E2E8F0"/>
                </a:solidFill>
              </a:defRPr>
            </a:pPr>
            <a:r>
              <a:t>•   **Growth Drivers:** Rising health‑data regulations, performance‑money pressure, wearables adoption</a:t>
            </a:r>
          </a:p>
          <a:p>
            <a:pPr>
              <a:spcAft>
                <a:spcPts val="600"/>
              </a:spcAft>
              <a:defRPr sz="1100" b="1">
                <a:solidFill>
                  <a:srgbClr val="10B981"/>
                </a:solidFill>
              </a:defRPr>
            </a:pPr>
            <a:r>
              <a:t>📊 Key Metrics: 400 target clubs | $100k average contract value | $3 B global AI injury‑prevention slice</a:t>
            </a:r>
          </a:p>
          <a:p>
            <a:br/>
            <a:pPr>
              <a:defRPr sz="900" i="1">
                <a:solidFill>
                  <a:srgbClr val="6366F1"/>
                </a:solidFill>
              </a:defRPr>
            </a:pPr>
            <a:r>
              <a:t>🎨 AI Image Prompt: A layered market map graphic: bottom layer shows global sports‑tech market ($30 B), middle layer highlights AI injury‑prevention slice (10%), top layer zooms into elite club segment with icons of NFL, NBA, NCAA, annotated ACV numbers, clean vector style.</a:t>
            </a:r>
          </a:p>
        </p:txBody>
      </p:sp>
      <p:sp>
        <p:nvSpPr>
          <p:cNvPr id="6" name="TextBox 5"/>
          <p:cNvSpPr txBox="1"/>
          <p:nvPr/>
        </p:nvSpPr>
        <p:spPr>
          <a:xfrm>
            <a:off x="914400" y="6126480"/>
            <a:ext cx="10362895" cy="365760"/>
          </a:xfrm>
          <a:prstGeom prst="rect">
            <a:avLst/>
          </a:prstGeom>
          <a:noFill/>
        </p:spPr>
        <p:txBody>
          <a:bodyPr wrap="none">
            <a:spAutoFit/>
          </a:bodyPr>
          <a:lstStyle/>
          <a:p>
            <a:pPr>
              <a:defRPr sz="900">
                <a:solidFill>
                  <a:srgbClr val="64748B"/>
                </a:solidFill>
              </a:defRPr>
            </a:pPr>
            <a:r>
              <a:t>Zone7 AI · Confidential Strategic Memorandum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8229600" cy="914400"/>
          </a:xfrm>
          <a:prstGeom prst="rect">
            <a:avLst/>
          </a:prstGeom>
          <a:noFill/>
        </p:spPr>
        <p:txBody>
          <a:bodyPr wrap="square">
            <a:spAutoFit/>
          </a:bodyPr>
          <a:lstStyle/>
          <a:p>
            <a:pPr>
              <a:defRPr sz="1000" b="1">
                <a:solidFill>
                  <a:srgbClr val="6366F1"/>
                </a:solidFill>
              </a:defRPr>
            </a:pPr>
            <a:r>
              <a:t>SLIDE 03 OF 09 · SOLUTION</a:t>
            </a:r>
          </a:p>
          <a:p>
            <a:pPr>
              <a:defRPr sz="2200" b="1">
                <a:solidFill>
                  <a:srgbClr val="FFFFFF"/>
                </a:solidFill>
              </a:defRPr>
            </a:pPr>
            <a:r>
              <a:t>Our Solution</a:t>
            </a:r>
          </a:p>
        </p:txBody>
      </p:sp>
      <p:sp>
        <p:nvSpPr>
          <p:cNvPr id="4" name="TextBox 3"/>
          <p:cNvSpPr txBox="1"/>
          <p:nvPr/>
        </p:nvSpPr>
        <p:spPr>
          <a:xfrm>
            <a:off x="9326880" y="457200"/>
            <a:ext cx="1950415" cy="548640"/>
          </a:xfrm>
          <a:prstGeom prst="rect">
            <a:avLst/>
          </a:prstGeom>
          <a:noFill/>
        </p:spPr>
        <p:txBody>
          <a:bodyPr wrap="none">
            <a:spAutoFit/>
          </a:bodyPr>
          <a:lstStyle/>
          <a:p>
            <a:pPr algn="r">
              <a:defRPr sz="1000" b="1">
                <a:solidFill>
                  <a:srgbClr val="64748B"/>
                </a:solidFill>
              </a:defRPr>
            </a:pPr>
            <a:r>
              <a:t>Zone7 AI</a:t>
            </a:r>
          </a:p>
        </p:txBody>
      </p:sp>
      <p:sp>
        <p:nvSpPr>
          <p:cNvPr id="5" name="Rounded Rectangle 4"/>
          <p:cNvSpPr/>
          <p:nvPr/>
        </p:nvSpPr>
        <p:spPr>
          <a:xfrm>
            <a:off x="914400" y="1463040"/>
            <a:ext cx="10362895" cy="4480560"/>
          </a:xfrm>
          <a:prstGeom prst="roundRect">
            <a:avLst/>
          </a:prstGeom>
          <a:solidFill>
            <a:srgbClr val="111827"/>
          </a:solidFill>
          <a:ln w="1270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rIns="365760"/>
          <a:lstStyle/>
          <a:p>
            <a:pPr algn="ctr">
              <a:spcAft>
                <a:spcPts val="1000"/>
              </a:spcAft>
              <a:defRPr sz="1300" b="1" i="1">
                <a:solidFill>
                  <a:srgbClr val="D4AF37"/>
                </a:solidFill>
              </a:defRPr>
            </a:pPr>
            <a:r>
              <a:t>"AI platform that predicts injuries 7 days ahead and automates load management."</a:t>
            </a:r>
          </a:p>
          <a:p>
            <a:pPr>
              <a:spcAft>
                <a:spcPts val="1000"/>
              </a:spcAft>
              <a:defRPr sz="1300">
                <a:solidFill>
                  <a:srgbClr val="E2E8F0"/>
                </a:solidFill>
              </a:defRPr>
            </a:pPr>
            <a:r>
              <a:t>Zone7 connects to any wearable, EHR, or match‑tracking system via a unified API, feeds data into a proprietary deep‑learning model trained on 200M+ hours of elite performance data, and delivers daily risk scores with actionable periodization recommendations. The SaaS dashboard provides real‑time alerts, weekly plans, and audit trails for medical staff.</a:t>
            </a:r>
          </a:p>
          <a:p>
            <a:pPr>
              <a:spcAft>
                <a:spcPts val="600"/>
              </a:spcAft>
              <a:defRPr sz="1200">
                <a:solidFill>
                  <a:srgbClr val="FFFFFF"/>
                </a:solidFill>
              </a:defRPr>
            </a:pPr>
            <a:r>
              <a:t>•   **Universal Integration:** API works with all wearables &amp; health records</a:t>
            </a:r>
          </a:p>
          <a:p>
            <a:pPr>
              <a:spcAft>
                <a:spcPts val="600"/>
              </a:spcAft>
              <a:defRPr sz="1200">
                <a:solidFill>
                  <a:srgbClr val="E2E8F0"/>
                </a:solidFill>
              </a:defRPr>
            </a:pPr>
            <a:r>
              <a:t>•   **Predictive Engine:** 7‑day injury risk forecasts</a:t>
            </a:r>
          </a:p>
          <a:p>
            <a:pPr>
              <a:spcAft>
                <a:spcPts val="600"/>
              </a:spcAft>
              <a:defRPr sz="1200">
                <a:solidFill>
                  <a:srgbClr val="E2E8F0"/>
                </a:solidFill>
              </a:defRPr>
            </a:pPr>
            <a:r>
              <a:t>•   **Actionable Output:** Automated load‑management &amp; periodization</a:t>
            </a:r>
          </a:p>
          <a:p>
            <a:pPr>
              <a:spcAft>
                <a:spcPts val="600"/>
              </a:spcAft>
              <a:defRPr sz="1200">
                <a:solidFill>
                  <a:srgbClr val="E2E8F0"/>
                </a:solidFill>
              </a:defRPr>
            </a:pPr>
            <a:r>
              <a:t>•   **Compliance‑Ready:** HIPAA, GDPR, CCPA built‑in</a:t>
            </a:r>
          </a:p>
          <a:p>
            <a:pPr>
              <a:spcAft>
                <a:spcPts val="600"/>
              </a:spcAft>
              <a:defRPr sz="1100" b="1">
                <a:solidFill>
                  <a:srgbClr val="10B981"/>
                </a:solidFill>
              </a:defRPr>
            </a:pPr>
            <a:r>
              <a:t>📊 Key Metrics: 200M+ training hours | 7‑day forecast horizon | 99.9% API uptime SLA</a:t>
            </a:r>
          </a:p>
          <a:p>
            <a:br/>
            <a:pPr>
              <a:defRPr sz="900" i="1">
                <a:solidFill>
                  <a:srgbClr val="6366F1"/>
                </a:solidFill>
              </a:defRPr>
            </a:pPr>
            <a:r>
              <a:t>🎨 AI Image Prompt: A sleek UI mockup showing a dashboard with a risk heatmap over a player silhouette, real‑time alerts list, and a weekly periodization calendar, rendered in a modern dark theme with neon accent colors.</a:t>
            </a:r>
          </a:p>
        </p:txBody>
      </p:sp>
      <p:sp>
        <p:nvSpPr>
          <p:cNvPr id="6" name="TextBox 5"/>
          <p:cNvSpPr txBox="1"/>
          <p:nvPr/>
        </p:nvSpPr>
        <p:spPr>
          <a:xfrm>
            <a:off x="914400" y="6126480"/>
            <a:ext cx="10362895" cy="365760"/>
          </a:xfrm>
          <a:prstGeom prst="rect">
            <a:avLst/>
          </a:prstGeom>
          <a:noFill/>
        </p:spPr>
        <p:txBody>
          <a:bodyPr wrap="none">
            <a:spAutoFit/>
          </a:bodyPr>
          <a:lstStyle/>
          <a:p>
            <a:pPr>
              <a:defRPr sz="900">
                <a:solidFill>
                  <a:srgbClr val="64748B"/>
                </a:solidFill>
              </a:defRPr>
            </a:pPr>
            <a:r>
              <a:t>Zone7 AI · Confidential Strategic Memorandum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8229600" cy="914400"/>
          </a:xfrm>
          <a:prstGeom prst="rect">
            <a:avLst/>
          </a:prstGeom>
          <a:noFill/>
        </p:spPr>
        <p:txBody>
          <a:bodyPr wrap="square">
            <a:spAutoFit/>
          </a:bodyPr>
          <a:lstStyle/>
          <a:p>
            <a:pPr>
              <a:defRPr sz="1000" b="1">
                <a:solidFill>
                  <a:srgbClr val="6366F1"/>
                </a:solidFill>
              </a:defRPr>
            </a:pPr>
            <a:r>
              <a:t>SLIDE 04 OF 09 · COMPETITION</a:t>
            </a:r>
          </a:p>
          <a:p>
            <a:pPr>
              <a:defRPr sz="2200" b="1">
                <a:solidFill>
                  <a:srgbClr val="FFFFFF"/>
                </a:solidFill>
              </a:defRPr>
            </a:pPr>
            <a:r>
              <a:t>Defensible Moats</a:t>
            </a:r>
          </a:p>
        </p:txBody>
      </p:sp>
      <p:sp>
        <p:nvSpPr>
          <p:cNvPr id="4" name="TextBox 3"/>
          <p:cNvSpPr txBox="1"/>
          <p:nvPr/>
        </p:nvSpPr>
        <p:spPr>
          <a:xfrm>
            <a:off x="9326880" y="457200"/>
            <a:ext cx="1950415" cy="548640"/>
          </a:xfrm>
          <a:prstGeom prst="rect">
            <a:avLst/>
          </a:prstGeom>
          <a:noFill/>
        </p:spPr>
        <p:txBody>
          <a:bodyPr wrap="none">
            <a:spAutoFit/>
          </a:bodyPr>
          <a:lstStyle/>
          <a:p>
            <a:pPr algn="r">
              <a:defRPr sz="1000" b="1">
                <a:solidFill>
                  <a:srgbClr val="64748B"/>
                </a:solidFill>
              </a:defRPr>
            </a:pPr>
            <a:r>
              <a:t>Zone7 AI</a:t>
            </a:r>
          </a:p>
        </p:txBody>
      </p:sp>
      <p:sp>
        <p:nvSpPr>
          <p:cNvPr id="5" name="Rounded Rectangle 4"/>
          <p:cNvSpPr/>
          <p:nvPr/>
        </p:nvSpPr>
        <p:spPr>
          <a:xfrm>
            <a:off x="914400" y="1463040"/>
            <a:ext cx="10362895" cy="4480560"/>
          </a:xfrm>
          <a:prstGeom prst="roundRect">
            <a:avLst/>
          </a:prstGeom>
          <a:solidFill>
            <a:srgbClr val="111827"/>
          </a:solidFill>
          <a:ln w="1270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rIns="365760"/>
          <a:lstStyle/>
          <a:p>
            <a:pPr algn="ctr">
              <a:spcAft>
                <a:spcPts val="1000"/>
              </a:spcAft>
              <a:defRPr sz="1300" b="1" i="1">
                <a:solidFill>
                  <a:srgbClr val="D4AF37"/>
                </a:solidFill>
              </a:defRPr>
            </a:pPr>
            <a:r>
              <a:t>"Data depth, patented models, and network effects protect Zone7’s lead."</a:t>
            </a:r>
          </a:p>
          <a:p>
            <a:pPr>
              <a:spcAft>
                <a:spcPts val="1000"/>
              </a:spcAft>
              <a:defRPr sz="1300">
                <a:solidFill>
                  <a:srgbClr val="E2E8F0"/>
                </a:solidFill>
              </a:defRPr>
            </a:pPr>
            <a:r>
              <a:t>Our 200M‑hour multimodal data lake continuously expands as clubs contribute anonymized data, creating a virtuous network effect. Patented deep‑learning architectures and a HIPAA‑grade security layer are difficult to replicate. Competitors lack universal API coverage and the long‑forecast horizon that our platform uniquely offers.</a:t>
            </a:r>
          </a:p>
          <a:p>
            <a:pPr>
              <a:spcAft>
                <a:spcPts val="600"/>
              </a:spcAft>
              <a:defRPr sz="1200">
                <a:solidFill>
                  <a:srgbClr val="FFFFFF"/>
                </a:solidFill>
              </a:defRPr>
            </a:pPr>
            <a:r>
              <a:t>•   **Proprietary Data Lake:** 200M+ hours, growing with each client</a:t>
            </a:r>
          </a:p>
          <a:p>
            <a:pPr>
              <a:spcAft>
                <a:spcPts val="600"/>
              </a:spcAft>
              <a:defRPr sz="1200">
                <a:solidFill>
                  <a:srgbClr val="E2E8F0"/>
                </a:solidFill>
              </a:defRPr>
            </a:pPr>
            <a:r>
              <a:t>•   **Patented Algorithms:** Deep‑learning injury prediction patents filed</a:t>
            </a:r>
          </a:p>
          <a:p>
            <a:pPr>
              <a:spcAft>
                <a:spcPts val="600"/>
              </a:spcAft>
              <a:defRPr sz="1200">
                <a:solidFill>
                  <a:srgbClr val="E2E8F0"/>
                </a:solidFill>
              </a:defRPr>
            </a:pPr>
            <a:r>
              <a:t>•   **Network Effect:** Club data improves model for all users</a:t>
            </a:r>
          </a:p>
          <a:p>
            <a:pPr>
              <a:spcAft>
                <a:spcPts val="600"/>
              </a:spcAft>
              <a:defRPr sz="1200">
                <a:solidFill>
                  <a:srgbClr val="E2E8F0"/>
                </a:solidFill>
              </a:defRPr>
            </a:pPr>
            <a:r>
              <a:t>•   **Regulatory Edge:** Built‑in HIPAA, GDPR, CCPA compliance</a:t>
            </a:r>
          </a:p>
          <a:p>
            <a:pPr>
              <a:spcAft>
                <a:spcPts val="600"/>
              </a:spcAft>
              <a:defRPr sz="1100" b="1">
                <a:solidFill>
                  <a:srgbClr val="10B981"/>
                </a:solidFill>
              </a:defRPr>
            </a:pPr>
            <a:r>
              <a:t>📊 Key Metrics: 5 patents pending | 30% model accuracy improvement YoY | 10+ enterprise partners onboard</a:t>
            </a:r>
          </a:p>
          <a:p>
            <a:br/>
            <a:pPr>
              <a:defRPr sz="900" i="1">
                <a:solidFill>
                  <a:srgbClr val="6366F1"/>
                </a:solidFill>
              </a:defRPr>
            </a:pPr>
            <a:r>
              <a:t>🎨 AI Image Prompt: A defensive moat diagram: concentric circles labeled Data Lake, Patents, Network Effect, Compliance, with competitor icons outside the outer ring, stylized like a fortress, high‑detail illustration.</a:t>
            </a:r>
          </a:p>
        </p:txBody>
      </p:sp>
      <p:sp>
        <p:nvSpPr>
          <p:cNvPr id="6" name="TextBox 5"/>
          <p:cNvSpPr txBox="1"/>
          <p:nvPr/>
        </p:nvSpPr>
        <p:spPr>
          <a:xfrm>
            <a:off x="914400" y="6126480"/>
            <a:ext cx="10362895" cy="365760"/>
          </a:xfrm>
          <a:prstGeom prst="rect">
            <a:avLst/>
          </a:prstGeom>
          <a:noFill/>
        </p:spPr>
        <p:txBody>
          <a:bodyPr wrap="none">
            <a:spAutoFit/>
          </a:bodyPr>
          <a:lstStyle/>
          <a:p>
            <a:pPr>
              <a:defRPr sz="900">
                <a:solidFill>
                  <a:srgbClr val="64748B"/>
                </a:solidFill>
              </a:defRPr>
            </a:pPr>
            <a:r>
              <a:t>Zone7 AI · Confidential Strategic Memorandum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8229600" cy="914400"/>
          </a:xfrm>
          <a:prstGeom prst="rect">
            <a:avLst/>
          </a:prstGeom>
          <a:noFill/>
        </p:spPr>
        <p:txBody>
          <a:bodyPr wrap="square">
            <a:spAutoFit/>
          </a:bodyPr>
          <a:lstStyle/>
          <a:p>
            <a:pPr>
              <a:defRPr sz="1000" b="1">
                <a:solidFill>
                  <a:srgbClr val="6366F1"/>
                </a:solidFill>
              </a:defRPr>
            </a:pPr>
            <a:r>
              <a:t>SLIDE 05 OF 09 · BUSINESS MODEL</a:t>
            </a:r>
          </a:p>
          <a:p>
            <a:pPr>
              <a:defRPr sz="2200" b="1">
                <a:solidFill>
                  <a:srgbClr val="FFFFFF"/>
                </a:solidFill>
              </a:defRPr>
            </a:pPr>
            <a:r>
              <a:t>Business Model &amp; Traction</a:t>
            </a:r>
          </a:p>
        </p:txBody>
      </p:sp>
      <p:sp>
        <p:nvSpPr>
          <p:cNvPr id="4" name="TextBox 3"/>
          <p:cNvSpPr txBox="1"/>
          <p:nvPr/>
        </p:nvSpPr>
        <p:spPr>
          <a:xfrm>
            <a:off x="9326880" y="457200"/>
            <a:ext cx="1950415" cy="548640"/>
          </a:xfrm>
          <a:prstGeom prst="rect">
            <a:avLst/>
          </a:prstGeom>
          <a:noFill/>
        </p:spPr>
        <p:txBody>
          <a:bodyPr wrap="none">
            <a:spAutoFit/>
          </a:bodyPr>
          <a:lstStyle/>
          <a:p>
            <a:pPr algn="r">
              <a:defRPr sz="1000" b="1">
                <a:solidFill>
                  <a:srgbClr val="64748B"/>
                </a:solidFill>
              </a:defRPr>
            </a:pPr>
            <a:r>
              <a:t>Zone7 AI</a:t>
            </a:r>
          </a:p>
        </p:txBody>
      </p:sp>
      <p:sp>
        <p:nvSpPr>
          <p:cNvPr id="5" name="Rounded Rectangle 4"/>
          <p:cNvSpPr/>
          <p:nvPr/>
        </p:nvSpPr>
        <p:spPr>
          <a:xfrm>
            <a:off x="914400" y="1463040"/>
            <a:ext cx="10362895" cy="4480560"/>
          </a:xfrm>
          <a:prstGeom prst="roundRect">
            <a:avLst/>
          </a:prstGeom>
          <a:solidFill>
            <a:srgbClr val="111827"/>
          </a:solidFill>
          <a:ln w="1270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rIns="365760"/>
          <a:lstStyle/>
          <a:p>
            <a:pPr algn="ctr">
              <a:spcAft>
                <a:spcPts val="1000"/>
              </a:spcAft>
              <a:defRPr sz="1300" b="1" i="1">
                <a:solidFill>
                  <a:srgbClr val="D4AF37"/>
                </a:solidFill>
              </a:defRPr>
            </a:pPr>
            <a:r>
              <a:t>"Tiered SaaS subscriptions and high‑margin DSaaS consulting drive recurring revenue."</a:t>
            </a:r>
          </a:p>
          <a:p>
            <a:pPr>
              <a:spcAft>
                <a:spcPts val="1000"/>
              </a:spcAft>
              <a:defRPr sz="1300">
                <a:solidFill>
                  <a:srgbClr val="E2E8F0"/>
                </a:solidFill>
              </a:defRPr>
            </a:pPr>
            <a:r>
              <a:t>We sell annual enterprise licenses per team: Zone7 Audit ($30k), Zone7 Pro ($99k), Zone7 Elite ($250k) with optional Data‑Science‑as‑a‑Service retainers. Early pilots with 3 NBA clubs and 2 NCAA powerhouses show a 20% reduction in injury days and $1.2 M cost avoidance in the first season.</a:t>
            </a:r>
          </a:p>
          <a:p>
            <a:pPr>
              <a:spcAft>
                <a:spcPts val="600"/>
              </a:spcAft>
              <a:defRPr sz="1200">
                <a:solidFill>
                  <a:srgbClr val="FFFFFF"/>
                </a:solidFill>
              </a:defRPr>
            </a:pPr>
            <a:r>
              <a:t>•   **Revenue Streams:** SaaS subscriptions + DSaaS consulting</a:t>
            </a:r>
          </a:p>
          <a:p>
            <a:pPr>
              <a:spcAft>
                <a:spcPts val="600"/>
              </a:spcAft>
              <a:defRPr sz="1200">
                <a:solidFill>
                  <a:srgbClr val="E2E8F0"/>
                </a:solidFill>
              </a:defRPr>
            </a:pPr>
            <a:r>
              <a:t>•   **Pricing Tiers:** $30k‑$250k per team per year</a:t>
            </a:r>
          </a:p>
          <a:p>
            <a:pPr>
              <a:spcAft>
                <a:spcPts val="600"/>
              </a:spcAft>
              <a:defRPr sz="1200">
                <a:solidFill>
                  <a:srgbClr val="E2E8F0"/>
                </a:solidFill>
              </a:defRPr>
            </a:pPr>
            <a:r>
              <a:t>•   **Pilot Results:** 20% fewer injury days, $1.2 M avoided costs</a:t>
            </a:r>
          </a:p>
          <a:p>
            <a:pPr>
              <a:spcAft>
                <a:spcPts val="600"/>
              </a:spcAft>
              <a:defRPr sz="1200">
                <a:solidFill>
                  <a:srgbClr val="E2E8F0"/>
                </a:solidFill>
              </a:defRPr>
            </a:pPr>
            <a:r>
              <a:t>•   **Gross Margin:** 78% after compliance overhead</a:t>
            </a:r>
          </a:p>
          <a:p>
            <a:pPr>
              <a:spcAft>
                <a:spcPts val="600"/>
              </a:spcAft>
              <a:defRPr sz="1100" b="1">
                <a:solidFill>
                  <a:srgbClr val="10B981"/>
                </a:solidFill>
              </a:defRPr>
            </a:pPr>
            <a:r>
              <a:t>📊 Key Metrics: ARR $2.4 M (pilot) | Customer churn &lt;10% YoY | CAC $7,500 (adjusted)</a:t>
            </a:r>
          </a:p>
          <a:p>
            <a:br/>
            <a:pPr>
              <a:defRPr sz="900" i="1">
                <a:solidFill>
                  <a:srgbClr val="6366F1"/>
                </a:solidFill>
              </a:defRPr>
            </a:pPr>
            <a:r>
              <a:t>🎨 AI Image Prompt: A funnel graphic showing lead generation → pilot → full‑contract, with dollar amounts at each stage, plus a side‑by‑side bar chart of injury‑day reduction vs. cost avoidance, clean corporate style.</a:t>
            </a:r>
          </a:p>
        </p:txBody>
      </p:sp>
      <p:sp>
        <p:nvSpPr>
          <p:cNvPr id="6" name="TextBox 5"/>
          <p:cNvSpPr txBox="1"/>
          <p:nvPr/>
        </p:nvSpPr>
        <p:spPr>
          <a:xfrm>
            <a:off x="914400" y="6126480"/>
            <a:ext cx="10362895" cy="365760"/>
          </a:xfrm>
          <a:prstGeom prst="rect">
            <a:avLst/>
          </a:prstGeom>
          <a:noFill/>
        </p:spPr>
        <p:txBody>
          <a:bodyPr wrap="none">
            <a:spAutoFit/>
          </a:bodyPr>
          <a:lstStyle/>
          <a:p>
            <a:pPr>
              <a:defRPr sz="900">
                <a:solidFill>
                  <a:srgbClr val="64748B"/>
                </a:solidFill>
              </a:defRPr>
            </a:pPr>
            <a:r>
              <a:t>Zone7 AI · Confidential Strategic Memorandum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8229600" cy="914400"/>
          </a:xfrm>
          <a:prstGeom prst="rect">
            <a:avLst/>
          </a:prstGeom>
          <a:noFill/>
        </p:spPr>
        <p:txBody>
          <a:bodyPr wrap="square">
            <a:spAutoFit/>
          </a:bodyPr>
          <a:lstStyle/>
          <a:p>
            <a:pPr>
              <a:defRPr sz="1000" b="1">
                <a:solidFill>
                  <a:srgbClr val="6366F1"/>
                </a:solidFill>
              </a:defRPr>
            </a:pPr>
            <a:r>
              <a:t>SLIDE 06 OF 09 · GROWTH</a:t>
            </a:r>
          </a:p>
          <a:p>
            <a:pPr>
              <a:defRPr sz="2200" b="1">
                <a:solidFill>
                  <a:srgbClr val="FFFFFF"/>
                </a:solidFill>
              </a:defRPr>
            </a:pPr>
            <a:r>
              <a:t>Go‑To‑Market Strategy</a:t>
            </a:r>
          </a:p>
        </p:txBody>
      </p:sp>
      <p:sp>
        <p:nvSpPr>
          <p:cNvPr id="4" name="TextBox 3"/>
          <p:cNvSpPr txBox="1"/>
          <p:nvPr/>
        </p:nvSpPr>
        <p:spPr>
          <a:xfrm>
            <a:off x="9326880" y="457200"/>
            <a:ext cx="1950415" cy="548640"/>
          </a:xfrm>
          <a:prstGeom prst="rect">
            <a:avLst/>
          </a:prstGeom>
          <a:noFill/>
        </p:spPr>
        <p:txBody>
          <a:bodyPr wrap="none">
            <a:spAutoFit/>
          </a:bodyPr>
          <a:lstStyle/>
          <a:p>
            <a:pPr algn="r">
              <a:defRPr sz="1000" b="1">
                <a:solidFill>
                  <a:srgbClr val="64748B"/>
                </a:solidFill>
              </a:defRPr>
            </a:pPr>
            <a:r>
              <a:t>Zone7 AI</a:t>
            </a:r>
          </a:p>
        </p:txBody>
      </p:sp>
      <p:sp>
        <p:nvSpPr>
          <p:cNvPr id="5" name="Rounded Rectangle 4"/>
          <p:cNvSpPr/>
          <p:nvPr/>
        </p:nvSpPr>
        <p:spPr>
          <a:xfrm>
            <a:off x="914400" y="1463040"/>
            <a:ext cx="10362895" cy="4480560"/>
          </a:xfrm>
          <a:prstGeom prst="roundRect">
            <a:avLst/>
          </a:prstGeom>
          <a:solidFill>
            <a:srgbClr val="111827"/>
          </a:solidFill>
          <a:ln w="1270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rIns="365760"/>
          <a:lstStyle/>
          <a:p>
            <a:pPr algn="ctr">
              <a:spcAft>
                <a:spcPts val="1000"/>
              </a:spcAft>
              <a:defRPr sz="1300" b="1" i="1">
                <a:solidFill>
                  <a:srgbClr val="D4AF37"/>
                </a:solidFill>
              </a:defRPr>
            </a:pPr>
            <a:r>
              <a:t>"Target elite pro clubs and top NCAA programs via pilot‑first, partnership‑driven expansion."</a:t>
            </a:r>
          </a:p>
          <a:p>
            <a:pPr>
              <a:spcAft>
                <a:spcPts val="1000"/>
              </a:spcAft>
              <a:defRPr sz="1300">
                <a:solidFill>
                  <a:srgbClr val="E2E8F0"/>
                </a:solidFill>
              </a:defRPr>
            </a:pPr>
            <a:r>
              <a:t>We will launch a 12‑month pilot program with 5 flagship clubs, leveraging league partnerships and wearable manufacturers for co‑marketing. Account‑based marketing, LinkedIn outreach, and industry conferences will feed the pipeline. Success metrics from pilots will accelerate upsell to Pro and Elite tiers.</a:t>
            </a:r>
          </a:p>
          <a:p>
            <a:pPr>
              <a:spcAft>
                <a:spcPts val="600"/>
              </a:spcAft>
              <a:defRPr sz="1200">
                <a:solidFill>
                  <a:srgbClr val="FFFFFF"/>
                </a:solidFill>
              </a:defRPr>
            </a:pPr>
            <a:r>
              <a:t>•   **Pilot Program:** 5 flagship clubs, 12‑month proof points</a:t>
            </a:r>
          </a:p>
          <a:p>
            <a:pPr>
              <a:spcAft>
                <a:spcPts val="600"/>
              </a:spcAft>
              <a:defRPr sz="1200">
                <a:solidFill>
                  <a:srgbClr val="E2E8F0"/>
                </a:solidFill>
              </a:defRPr>
            </a:pPr>
            <a:r>
              <a:t>•   **Channel Partnerships:** Wearable OEMs, league data providers</a:t>
            </a:r>
          </a:p>
          <a:p>
            <a:pPr>
              <a:spcAft>
                <a:spcPts val="600"/>
              </a:spcAft>
              <a:defRPr sz="1200">
                <a:solidFill>
                  <a:srgbClr val="E2E8F0"/>
                </a:solidFill>
              </a:defRPr>
            </a:pPr>
            <a:r>
              <a:t>•   **ABM Tactics:** LinkedIn, conferences, webinars</a:t>
            </a:r>
          </a:p>
          <a:p>
            <a:pPr>
              <a:spcAft>
                <a:spcPts val="600"/>
              </a:spcAft>
              <a:defRPr sz="1200">
                <a:solidFill>
                  <a:srgbClr val="E2E8F0"/>
                </a:solidFill>
              </a:defRPr>
            </a:pPr>
            <a:r>
              <a:t>•   **Upsell Path:** Audit → Pro → Elite</a:t>
            </a:r>
          </a:p>
          <a:p>
            <a:pPr>
              <a:spcAft>
                <a:spcPts val="600"/>
              </a:spcAft>
              <a:defRPr sz="1100" b="1">
                <a:solidFill>
                  <a:srgbClr val="10B981"/>
                </a:solidFill>
              </a:defRPr>
            </a:pPr>
            <a:r>
              <a:t>📊 Key Metrics: 12‑month pilot conversion 60% | Avg. sales cycle 9 months | Pipeline growth 3x QoQ</a:t>
            </a:r>
          </a:p>
          <a:p>
            <a:br/>
            <a:pPr>
              <a:defRPr sz="900" i="1">
                <a:solidFill>
                  <a:srgbClr val="6366F1"/>
                </a:solidFill>
              </a:defRPr>
            </a:pPr>
            <a:r>
              <a:t>🎨 AI Image Prompt: A roadmap timeline graphic showing Q1‑Q4 milestones: pilot kickoff, data integration, ROI case study, full‑contract rollout, with icons for partnership, conference, and sales, vibrant colors.</a:t>
            </a:r>
          </a:p>
        </p:txBody>
      </p:sp>
      <p:sp>
        <p:nvSpPr>
          <p:cNvPr id="6" name="TextBox 5"/>
          <p:cNvSpPr txBox="1"/>
          <p:nvPr/>
        </p:nvSpPr>
        <p:spPr>
          <a:xfrm>
            <a:off x="914400" y="6126480"/>
            <a:ext cx="10362895" cy="365760"/>
          </a:xfrm>
          <a:prstGeom prst="rect">
            <a:avLst/>
          </a:prstGeom>
          <a:noFill/>
        </p:spPr>
        <p:txBody>
          <a:bodyPr wrap="none">
            <a:spAutoFit/>
          </a:bodyPr>
          <a:lstStyle/>
          <a:p>
            <a:pPr>
              <a:defRPr sz="900">
                <a:solidFill>
                  <a:srgbClr val="64748B"/>
                </a:solidFill>
              </a:defRPr>
            </a:pPr>
            <a:r>
              <a:t>Zone7 AI · Confidential Strategic Memorandum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8229600" cy="914400"/>
          </a:xfrm>
          <a:prstGeom prst="rect">
            <a:avLst/>
          </a:prstGeom>
          <a:noFill/>
        </p:spPr>
        <p:txBody>
          <a:bodyPr wrap="square">
            <a:spAutoFit/>
          </a:bodyPr>
          <a:lstStyle/>
          <a:p>
            <a:pPr>
              <a:defRPr sz="1000" b="1">
                <a:solidFill>
                  <a:srgbClr val="6366F1"/>
                </a:solidFill>
              </a:defRPr>
            </a:pPr>
            <a:r>
              <a:t>SLIDE 07 OF 09 · FINANCIALS</a:t>
            </a:r>
          </a:p>
          <a:p>
            <a:pPr>
              <a:defRPr sz="2200" b="1">
                <a:solidFill>
                  <a:srgbClr val="FFFFFF"/>
                </a:solidFill>
              </a:defRPr>
            </a:pPr>
            <a:r>
              <a:t>Financial Projections</a:t>
            </a:r>
          </a:p>
        </p:txBody>
      </p:sp>
      <p:sp>
        <p:nvSpPr>
          <p:cNvPr id="4" name="TextBox 3"/>
          <p:cNvSpPr txBox="1"/>
          <p:nvPr/>
        </p:nvSpPr>
        <p:spPr>
          <a:xfrm>
            <a:off x="9326880" y="457200"/>
            <a:ext cx="1950415" cy="548640"/>
          </a:xfrm>
          <a:prstGeom prst="rect">
            <a:avLst/>
          </a:prstGeom>
          <a:noFill/>
        </p:spPr>
        <p:txBody>
          <a:bodyPr wrap="none">
            <a:spAutoFit/>
          </a:bodyPr>
          <a:lstStyle/>
          <a:p>
            <a:pPr algn="r">
              <a:defRPr sz="1000" b="1">
                <a:solidFill>
                  <a:srgbClr val="64748B"/>
                </a:solidFill>
              </a:defRPr>
            </a:pPr>
            <a:r>
              <a:t>Zone7 AI</a:t>
            </a:r>
          </a:p>
        </p:txBody>
      </p:sp>
      <p:sp>
        <p:nvSpPr>
          <p:cNvPr id="5" name="Rounded Rectangle 4"/>
          <p:cNvSpPr/>
          <p:nvPr/>
        </p:nvSpPr>
        <p:spPr>
          <a:xfrm>
            <a:off x="914400" y="1463040"/>
            <a:ext cx="10362895" cy="4480560"/>
          </a:xfrm>
          <a:prstGeom prst="roundRect">
            <a:avLst/>
          </a:prstGeom>
          <a:solidFill>
            <a:srgbClr val="111827"/>
          </a:solidFill>
          <a:ln w="1270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rIns="365760"/>
          <a:lstStyle/>
          <a:p>
            <a:pPr algn="ctr">
              <a:spcAft>
                <a:spcPts val="1000"/>
              </a:spcAft>
              <a:defRPr sz="1300" b="1" i="1">
                <a:solidFill>
                  <a:srgbClr val="D4AF37"/>
                </a:solidFill>
              </a:defRPr>
            </a:pPr>
            <a:r>
              <a:t>"Projected $45 M ARR by Year 5 with 70% EBITDA margin."</a:t>
            </a:r>
          </a:p>
          <a:p>
            <a:pPr>
              <a:spcAft>
                <a:spcPts val="1000"/>
              </a:spcAft>
              <a:defRPr sz="1300">
                <a:solidFill>
                  <a:srgbClr val="E2E8F0"/>
                </a:solidFill>
              </a:defRPr>
            </a:pPr>
            <a:r>
              <a:t>Assuming 40 Elite contracts, 80 Pro contracts, and 120 Audit contracts by Year 5, ARR reaches $45 M. Gross margin stabilizes at 78% after scaling compliance and data‑engineering costs. Break‑even occurs in Year 2, with a 12‑month CAC payback under realistic assumptions.</a:t>
            </a:r>
          </a:p>
          <a:p>
            <a:pPr>
              <a:spcAft>
                <a:spcPts val="600"/>
              </a:spcAft>
              <a:defRPr sz="1200">
                <a:solidFill>
                  <a:srgbClr val="FFFFFF"/>
                </a:solidFill>
              </a:defRPr>
            </a:pPr>
            <a:r>
              <a:t>•   **Year 5 ARR:** $45 M</a:t>
            </a:r>
          </a:p>
          <a:p>
            <a:pPr>
              <a:spcAft>
                <a:spcPts val="600"/>
              </a:spcAft>
              <a:defRPr sz="1200">
                <a:solidFill>
                  <a:srgbClr val="E2E8F0"/>
                </a:solidFill>
              </a:defRPr>
            </a:pPr>
            <a:r>
              <a:t>•   **EBITDA Margin:** 70%</a:t>
            </a:r>
          </a:p>
          <a:p>
            <a:pPr>
              <a:spcAft>
                <a:spcPts val="600"/>
              </a:spcAft>
              <a:defRPr sz="1200">
                <a:solidFill>
                  <a:srgbClr val="E2E8F0"/>
                </a:solidFill>
              </a:defRPr>
            </a:pPr>
            <a:r>
              <a:t>•   **Break‑Even:** Year 2</a:t>
            </a:r>
          </a:p>
          <a:p>
            <a:pPr>
              <a:spcAft>
                <a:spcPts val="600"/>
              </a:spcAft>
              <a:defRPr sz="1200">
                <a:solidFill>
                  <a:srgbClr val="E2E8F0"/>
                </a:solidFill>
              </a:defRPr>
            </a:pPr>
            <a:r>
              <a:t>•   **CAC Payback:** ≤12 months</a:t>
            </a:r>
          </a:p>
          <a:p>
            <a:pPr>
              <a:spcAft>
                <a:spcPts val="600"/>
              </a:spcAft>
              <a:defRPr sz="1100" b="1">
                <a:solidFill>
                  <a:srgbClr val="10B981"/>
                </a:solidFill>
              </a:defRPr>
            </a:pPr>
            <a:r>
              <a:t>📊 Key Metrics: ARR growth CAGR 85% | Gross margin 78% | Burn multiple 1.2x</a:t>
            </a:r>
          </a:p>
          <a:p>
            <a:br/>
            <a:pPr>
              <a:defRPr sz="900" i="1">
                <a:solidFill>
                  <a:srgbClr val="6366F1"/>
                </a:solidFill>
              </a:defRPr>
            </a:pPr>
            <a:r>
              <a:t>🎨 AI Image Prompt: A stacked bar chart of ARR by year with color‑coded contract tiers, plus a line graph overlay showing EBITDA margin trajectory, professional finance visual style.</a:t>
            </a:r>
          </a:p>
        </p:txBody>
      </p:sp>
      <p:graphicFrame>
        <p:nvGraphicFramePr>
          <p:cNvPr id="6" name="Chart 5"/>
          <p:cNvGraphicFramePr>
            <a:graphicFrameLocks noGrp="1"/>
          </p:cNvGraphicFramePr>
          <p:nvPr/>
        </p:nvGraphicFramePr>
        <p:xfrm>
          <a:off x="7498079" y="2011680"/>
          <a:ext cx="3931920" cy="3474720"/>
        </p:xfrm>
        <a:graphic>
          <a:graphicData uri="http://schemas.openxmlformats.org/drawingml/2006/chart">
            <c:chart xmlns:c="http://schemas.openxmlformats.org/drawingml/2006/chart" r:id="rId2"/>
          </a:graphicData>
        </a:graphic>
      </p:graphicFrame>
      <p:sp>
        <p:nvSpPr>
          <p:cNvPr id="7" name="TextBox 6"/>
          <p:cNvSpPr txBox="1"/>
          <p:nvPr/>
        </p:nvSpPr>
        <p:spPr>
          <a:xfrm>
            <a:off x="914400" y="6126480"/>
            <a:ext cx="10362895" cy="365760"/>
          </a:xfrm>
          <a:prstGeom prst="rect">
            <a:avLst/>
          </a:prstGeom>
          <a:noFill/>
        </p:spPr>
        <p:txBody>
          <a:bodyPr wrap="none">
            <a:spAutoFit/>
          </a:bodyPr>
          <a:lstStyle/>
          <a:p>
            <a:pPr>
              <a:defRPr sz="900">
                <a:solidFill>
                  <a:srgbClr val="64748B"/>
                </a:solidFill>
              </a:defRPr>
            </a:pPr>
            <a:r>
              <a:t>Zone7 AI · Confidential Strategic Memorandum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8229600" cy="914400"/>
          </a:xfrm>
          <a:prstGeom prst="rect">
            <a:avLst/>
          </a:prstGeom>
          <a:noFill/>
        </p:spPr>
        <p:txBody>
          <a:bodyPr wrap="square">
            <a:spAutoFit/>
          </a:bodyPr>
          <a:lstStyle/>
          <a:p>
            <a:pPr>
              <a:defRPr sz="1000" b="1">
                <a:solidFill>
                  <a:srgbClr val="6366F1"/>
                </a:solidFill>
              </a:defRPr>
            </a:pPr>
            <a:r>
              <a:t>SLIDE 08 OF 09 · RISK</a:t>
            </a:r>
          </a:p>
          <a:p>
            <a:pPr>
              <a:defRPr sz="2200" b="1">
                <a:solidFill>
                  <a:srgbClr val="FFFFFF"/>
                </a:solidFill>
              </a:defRPr>
            </a:pPr>
            <a:r>
              <a:t>Risk Mitigation &amp; Compliance</a:t>
            </a:r>
          </a:p>
        </p:txBody>
      </p:sp>
      <p:sp>
        <p:nvSpPr>
          <p:cNvPr id="4" name="TextBox 3"/>
          <p:cNvSpPr txBox="1"/>
          <p:nvPr/>
        </p:nvSpPr>
        <p:spPr>
          <a:xfrm>
            <a:off x="9326880" y="457200"/>
            <a:ext cx="1950415" cy="548640"/>
          </a:xfrm>
          <a:prstGeom prst="rect">
            <a:avLst/>
          </a:prstGeom>
          <a:noFill/>
        </p:spPr>
        <p:txBody>
          <a:bodyPr wrap="none">
            <a:spAutoFit/>
          </a:bodyPr>
          <a:lstStyle/>
          <a:p>
            <a:pPr algn="r">
              <a:defRPr sz="1000" b="1">
                <a:solidFill>
                  <a:srgbClr val="64748B"/>
                </a:solidFill>
              </a:defRPr>
            </a:pPr>
            <a:r>
              <a:t>Zone7 AI</a:t>
            </a:r>
          </a:p>
        </p:txBody>
      </p:sp>
      <p:sp>
        <p:nvSpPr>
          <p:cNvPr id="5" name="Rounded Rectangle 4"/>
          <p:cNvSpPr/>
          <p:nvPr/>
        </p:nvSpPr>
        <p:spPr>
          <a:xfrm>
            <a:off x="914400" y="1463040"/>
            <a:ext cx="10362895" cy="4480560"/>
          </a:xfrm>
          <a:prstGeom prst="roundRect">
            <a:avLst/>
          </a:prstGeom>
          <a:solidFill>
            <a:srgbClr val="111827"/>
          </a:solidFill>
          <a:ln w="1270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rIns="365760"/>
          <a:lstStyle/>
          <a:p>
            <a:pPr algn="ctr">
              <a:spcAft>
                <a:spcPts val="1000"/>
              </a:spcAft>
              <a:defRPr sz="1300" b="1" i="1">
                <a:solidFill>
                  <a:srgbClr val="D4AF37"/>
                </a:solidFill>
              </a:defRPr>
            </a:pPr>
            <a:r>
              <a:t>"Robust security, regulatory, and AI governance framework reduces execution risk."</a:t>
            </a:r>
          </a:p>
          <a:p>
            <a:pPr>
              <a:spcAft>
                <a:spcPts val="1000"/>
              </a:spcAft>
              <a:defRPr sz="1300">
                <a:solidFill>
                  <a:srgbClr val="E2E8F0"/>
                </a:solidFill>
              </a:defRPr>
            </a:pPr>
            <a:r>
              <a:t>We have a 12‑point mitigation plan covering HIPAA Business Associate Agreements, end‑to‑end TLS/AES‑256 encryption, OAuth 2.0 API security, AI model robustness testing, and pursuit of FDA 510(k) clearance where applicable. Ongoing SOC 2 Type II and ISO 27001 audits ensure continuous compliance.</a:t>
            </a:r>
          </a:p>
          <a:p>
            <a:pPr>
              <a:spcAft>
                <a:spcPts val="600"/>
              </a:spcAft>
              <a:defRPr sz="1200">
                <a:solidFill>
                  <a:srgbClr val="FFFFFF"/>
                </a:solidFill>
              </a:defRPr>
            </a:pPr>
            <a:r>
              <a:t>•   **HIPAA/BAA:** All partners signed</a:t>
            </a:r>
          </a:p>
          <a:p>
            <a:pPr>
              <a:spcAft>
                <a:spcPts val="600"/>
              </a:spcAft>
              <a:defRPr sz="1200">
                <a:solidFill>
                  <a:srgbClr val="E2E8F0"/>
                </a:solidFill>
              </a:defRPr>
            </a:pPr>
            <a:r>
              <a:t>•   **Encryption:** TLS 1.3 + AES‑256 at rest</a:t>
            </a:r>
          </a:p>
          <a:p>
            <a:pPr>
              <a:spcAft>
                <a:spcPts val="600"/>
              </a:spcAft>
              <a:defRPr sz="1200">
                <a:solidFill>
                  <a:srgbClr val="E2E8F0"/>
                </a:solidFill>
              </a:defRPr>
            </a:pPr>
            <a:r>
              <a:t>•   **API Security:** OAuth 2.0 with least‑privilege scopes</a:t>
            </a:r>
          </a:p>
          <a:p>
            <a:pPr>
              <a:spcAft>
                <a:spcPts val="600"/>
              </a:spcAft>
              <a:defRPr sz="1200">
                <a:solidFill>
                  <a:srgbClr val="E2E8F0"/>
                </a:solidFill>
              </a:defRPr>
            </a:pPr>
            <a:r>
              <a:t>•   **AI Governance:** Regular adversarial testing &amp; bias audits</a:t>
            </a:r>
          </a:p>
          <a:p>
            <a:pPr>
              <a:spcAft>
                <a:spcPts val="600"/>
              </a:spcAft>
              <a:defRPr sz="1200">
                <a:solidFill>
                  <a:srgbClr val="E2E8F0"/>
                </a:solidFill>
              </a:defRPr>
            </a:pPr>
            <a:r>
              <a:t>•   **Regulatory Path:** FDA 510(k) roadmap</a:t>
            </a:r>
          </a:p>
          <a:p>
            <a:pPr>
              <a:spcAft>
                <a:spcPts val="600"/>
              </a:spcAft>
              <a:defRPr sz="1100" b="1">
                <a:solidFill>
                  <a:srgbClr val="10B981"/>
                </a:solidFill>
              </a:defRPr>
            </a:pPr>
            <a:r>
              <a:t>📊 Key Metrics: SOC 2 Type II achieved Q3 2025 | ISO 27001 certification target Q1 2026 | Model accuracy &gt;85% on validation set</a:t>
            </a:r>
          </a:p>
          <a:p>
            <a:br/>
            <a:pPr>
              <a:defRPr sz="900" i="1">
                <a:solidFill>
                  <a:srgbClr val="6366F1"/>
                </a:solidFill>
              </a:defRPr>
            </a:pPr>
            <a:r>
              <a:t>🎨 AI Image Prompt: A shield infographic divided into sections labeled Data, API, AI, Regulatory, each with a checkmark icon, rendered in corporate blue‑gray palette.</a:t>
            </a:r>
          </a:p>
        </p:txBody>
      </p:sp>
      <p:sp>
        <p:nvSpPr>
          <p:cNvPr id="6" name="TextBox 5"/>
          <p:cNvSpPr txBox="1"/>
          <p:nvPr/>
        </p:nvSpPr>
        <p:spPr>
          <a:xfrm>
            <a:off x="914400" y="6126480"/>
            <a:ext cx="10362895" cy="365760"/>
          </a:xfrm>
          <a:prstGeom prst="rect">
            <a:avLst/>
          </a:prstGeom>
          <a:noFill/>
        </p:spPr>
        <p:txBody>
          <a:bodyPr wrap="none">
            <a:spAutoFit/>
          </a:bodyPr>
          <a:lstStyle/>
          <a:p>
            <a:pPr>
              <a:defRPr sz="900">
                <a:solidFill>
                  <a:srgbClr val="64748B"/>
                </a:solidFill>
              </a:defRPr>
            </a:pPr>
            <a:r>
              <a:t>Zone7 AI · Confidential Strategic Memorandum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8229600" cy="914400"/>
          </a:xfrm>
          <a:prstGeom prst="rect">
            <a:avLst/>
          </a:prstGeom>
          <a:noFill/>
        </p:spPr>
        <p:txBody>
          <a:bodyPr wrap="square">
            <a:spAutoFit/>
          </a:bodyPr>
          <a:lstStyle/>
          <a:p>
            <a:pPr>
              <a:defRPr sz="1000" b="1">
                <a:solidFill>
                  <a:srgbClr val="6366F1"/>
                </a:solidFill>
              </a:defRPr>
            </a:pPr>
            <a:r>
              <a:t>SLIDE 09 OF 09 · CAPITAL</a:t>
            </a:r>
          </a:p>
          <a:p>
            <a:pPr>
              <a:defRPr sz="2200" b="1">
                <a:solidFill>
                  <a:srgbClr val="FFFFFF"/>
                </a:solidFill>
              </a:defRPr>
            </a:pPr>
            <a:r>
              <a:t>Funding Ask &amp; Use Of Proceeds</a:t>
            </a:r>
          </a:p>
        </p:txBody>
      </p:sp>
      <p:sp>
        <p:nvSpPr>
          <p:cNvPr id="4" name="TextBox 3"/>
          <p:cNvSpPr txBox="1"/>
          <p:nvPr/>
        </p:nvSpPr>
        <p:spPr>
          <a:xfrm>
            <a:off x="9326880" y="457200"/>
            <a:ext cx="1950415" cy="548640"/>
          </a:xfrm>
          <a:prstGeom prst="rect">
            <a:avLst/>
          </a:prstGeom>
          <a:noFill/>
        </p:spPr>
        <p:txBody>
          <a:bodyPr wrap="none">
            <a:spAutoFit/>
          </a:bodyPr>
          <a:lstStyle/>
          <a:p>
            <a:pPr algn="r">
              <a:defRPr sz="1000" b="1">
                <a:solidFill>
                  <a:srgbClr val="64748B"/>
                </a:solidFill>
              </a:defRPr>
            </a:pPr>
            <a:r>
              <a:t>Zone7 AI</a:t>
            </a:r>
          </a:p>
        </p:txBody>
      </p:sp>
      <p:sp>
        <p:nvSpPr>
          <p:cNvPr id="5" name="Rounded Rectangle 4"/>
          <p:cNvSpPr/>
          <p:nvPr/>
        </p:nvSpPr>
        <p:spPr>
          <a:xfrm>
            <a:off x="914400" y="1463040"/>
            <a:ext cx="10362895" cy="4480560"/>
          </a:xfrm>
          <a:prstGeom prst="roundRect">
            <a:avLst/>
          </a:prstGeom>
          <a:solidFill>
            <a:srgbClr val="111827"/>
          </a:solidFill>
          <a:ln w="1270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rIns="365760"/>
          <a:lstStyle/>
          <a:p>
            <a:pPr algn="ctr">
              <a:spcAft>
                <a:spcPts val="1000"/>
              </a:spcAft>
              <a:defRPr sz="1300" b="1" i="1">
                <a:solidFill>
                  <a:srgbClr val="D4AF37"/>
                </a:solidFill>
              </a:defRPr>
            </a:pPr>
            <a:r>
              <a:t>"Seeking $8 M Series A to dominate the elite sports AI injury‑prevention market."</a:t>
            </a:r>
          </a:p>
          <a:p>
            <a:pPr>
              <a:spcAft>
                <a:spcPts val="1000"/>
              </a:spcAft>
              <a:defRPr sz="1300">
                <a:solidFill>
                  <a:srgbClr val="E2E8F0"/>
                </a:solidFill>
              </a:defRPr>
            </a:pPr>
            <a:r>
              <a:t>The capital will accelerate product development, expand the data lake, secure compliance certifications, and scale the sales engine. A disciplined spend plan ensures runway to profitability and positions Zone7 for a strategic exit or IPO within 7‑8 years.</a:t>
            </a:r>
          </a:p>
          <a:p>
            <a:pPr>
              <a:spcAft>
                <a:spcPts val="600"/>
              </a:spcAft>
              <a:defRPr sz="1200">
                <a:solidFill>
                  <a:srgbClr val="FFFFFF"/>
                </a:solidFill>
              </a:defRPr>
            </a:pPr>
            <a:r>
              <a:t>•   **Product &amp; AI R&amp;D:** $2.5 M</a:t>
            </a:r>
          </a:p>
          <a:p>
            <a:pPr>
              <a:spcAft>
                <a:spcPts val="600"/>
              </a:spcAft>
              <a:defRPr sz="1200">
                <a:solidFill>
                  <a:srgbClr val="E2E8F0"/>
                </a:solidFill>
              </a:defRPr>
            </a:pPr>
            <a:r>
              <a:t>•   **Compliance &amp; Security:** $1.5 M</a:t>
            </a:r>
          </a:p>
          <a:p>
            <a:pPr>
              <a:spcAft>
                <a:spcPts val="600"/>
              </a:spcAft>
              <a:defRPr sz="1200">
                <a:solidFill>
                  <a:srgbClr val="E2E8F0"/>
                </a:solidFill>
              </a:defRPr>
            </a:pPr>
            <a:r>
              <a:t>•   **Sales &amp; Marketing:** $2.0 M</a:t>
            </a:r>
          </a:p>
          <a:p>
            <a:pPr>
              <a:spcAft>
                <a:spcPts val="600"/>
              </a:spcAft>
              <a:defRPr sz="1200">
                <a:solidFill>
                  <a:srgbClr val="E2E8F0"/>
                </a:solidFill>
              </a:defRPr>
            </a:pPr>
            <a:r>
              <a:t>•   **Operations &amp; Talent:** $1.0 M</a:t>
            </a:r>
          </a:p>
          <a:p>
            <a:pPr>
              <a:spcAft>
                <a:spcPts val="600"/>
              </a:spcAft>
              <a:defRPr sz="1200">
                <a:solidFill>
                  <a:srgbClr val="E2E8F0"/>
                </a:solidFill>
              </a:defRPr>
            </a:pPr>
            <a:r>
              <a:t>•   **Contingency &amp; Working Capital:** $1.0 M</a:t>
            </a:r>
          </a:p>
          <a:p>
            <a:pPr>
              <a:spcAft>
                <a:spcPts val="600"/>
              </a:spcAft>
              <a:defRPr sz="1100" b="1">
                <a:solidFill>
                  <a:srgbClr val="10B981"/>
                </a:solidFill>
              </a:defRPr>
            </a:pPr>
            <a:r>
              <a:t>📊 Key Metrics: Runway 24 months post‑fundraise | Projected ARR $45 M by Year 5 | Target valuation $120 M post‑money</a:t>
            </a:r>
          </a:p>
          <a:p>
            <a:br/>
            <a:pPr>
              <a:defRPr sz="900" i="1">
                <a:solidFill>
                  <a:srgbClr val="6366F1"/>
                </a:solidFill>
              </a:defRPr>
            </a:pPr>
            <a:r>
              <a:t>🎨 AI Image Prompt: A pie chart showing allocation percentages of the $8 M raise, with each slice labeled and a subtle background of a stadium silhouette, high‑resolution, modern infographic style.</a:t>
            </a:r>
          </a:p>
        </p:txBody>
      </p:sp>
      <p:sp>
        <p:nvSpPr>
          <p:cNvPr id="6" name="TextBox 5"/>
          <p:cNvSpPr txBox="1"/>
          <p:nvPr/>
        </p:nvSpPr>
        <p:spPr>
          <a:xfrm>
            <a:off x="914400" y="6126480"/>
            <a:ext cx="10362895" cy="365760"/>
          </a:xfrm>
          <a:prstGeom prst="rect">
            <a:avLst/>
          </a:prstGeom>
          <a:noFill/>
        </p:spPr>
        <p:txBody>
          <a:bodyPr wrap="none">
            <a:spAutoFit/>
          </a:bodyPr>
          <a:lstStyle/>
          <a:p>
            <a:pPr>
              <a:defRPr sz="900">
                <a:solidFill>
                  <a:srgbClr val="64748B"/>
                </a:solidFill>
              </a:defRPr>
            </a:pPr>
            <a:r>
              <a:t>Zone7 AI · Confidential Strategic Memorandum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62895" cy="822960"/>
          </a:xfrm>
          <a:prstGeom prst="rect">
            <a:avLst/>
          </a:prstGeom>
          <a:noFill/>
        </p:spPr>
        <p:txBody>
          <a:bodyPr wrap="none">
            <a:spAutoFit/>
          </a:bodyPr>
          <a:lstStyle/>
          <a:p>
            <a:pPr>
              <a:defRPr sz="1000" b="1">
                <a:solidFill>
                  <a:srgbClr val="D4AF37"/>
                </a:solidFill>
              </a:defRPr>
            </a:pPr>
            <a:r>
              <a:t>STRATEGIC CAPITAL ALLOCATION</a:t>
            </a:r>
          </a:p>
          <a:p>
            <a:pPr>
              <a:defRPr sz="2400" b="1">
                <a:solidFill>
                  <a:srgbClr val="FFFFFF"/>
                </a:solidFill>
              </a:defRPr>
            </a:pPr>
            <a:r>
              <a:t>Investment Highlights &amp; Use of Proceeds</a:t>
            </a:r>
          </a:p>
        </p:txBody>
      </p:sp>
      <p:sp>
        <p:nvSpPr>
          <p:cNvPr id="4" name="Rounded Rectangle 3"/>
          <p:cNvSpPr/>
          <p:nvPr/>
        </p:nvSpPr>
        <p:spPr>
          <a:xfrm>
            <a:off x="914400" y="1554480"/>
            <a:ext cx="5120640" cy="4389120"/>
          </a:xfrm>
          <a:prstGeom prst="roundRect">
            <a:avLst/>
          </a:prstGeom>
          <a:solidFill>
            <a:srgbClr val="111827"/>
          </a:solidFill>
          <a:ln w="1270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000"/>
              </a:spcAft>
              <a:defRPr sz="1200" b="1">
                <a:solidFill>
                  <a:srgbClr val="6366F1"/>
                </a:solidFill>
              </a:defRPr>
            </a:pPr>
            <a:r>
              <a:t>KEY INVESTMENT HIGHLIGHTS</a:t>
            </a:r>
          </a:p>
          <a:p>
            <a:pPr>
              <a:spcAft>
                <a:spcPts val="800"/>
              </a:spcAft>
              <a:defRPr sz="1100">
                <a:solidFill>
                  <a:srgbClr val="E2E8F0"/>
                </a:solidFill>
              </a:defRPr>
            </a:pPr>
            <a:r>
              <a:t>•  Proprietary 200M‑hour multimodal data lake creates a sustainable AI moat.</a:t>
            </a:r>
          </a:p>
          <a:p>
            <a:pPr>
              <a:spcAft>
                <a:spcPts val="800"/>
              </a:spcAft>
              <a:defRPr sz="1100">
                <a:solidFill>
                  <a:srgbClr val="E2E8F0"/>
                </a:solidFill>
              </a:defRPr>
            </a:pPr>
            <a:r>
              <a:t>•  7‑day injury risk forecasts deliver measurable ROI – pilot shows 20% reduction in injury days.</a:t>
            </a:r>
          </a:p>
          <a:p>
            <a:pPr>
              <a:spcAft>
                <a:spcPts val="800"/>
              </a:spcAft>
              <a:defRPr sz="1100">
                <a:solidFill>
                  <a:srgbClr val="E2E8F0"/>
                </a:solidFill>
              </a:defRPr>
            </a:pPr>
            <a:r>
              <a:t>•  Validated near‑term TAM of $140 M with a clear path to the $3 B long‑term AI injury‑prevention market.</a:t>
            </a:r>
          </a:p>
          <a:p>
            <a:pPr>
              <a:spcAft>
                <a:spcPts val="800"/>
              </a:spcAft>
              <a:defRPr sz="1100">
                <a:solidFill>
                  <a:srgbClr val="E2E8F0"/>
                </a:solidFill>
              </a:defRPr>
            </a:pPr>
            <a:r>
              <a:t>•  High‑margin SaaS + DSaaS model achieves 78% gross margin and projected 70% EBITDA by Year 5.</a:t>
            </a:r>
          </a:p>
          <a:p>
            <a:pPr>
              <a:spcAft>
                <a:spcPts val="800"/>
              </a:spcAft>
              <a:defRPr sz="1100">
                <a:solidFill>
                  <a:srgbClr val="E2E8F0"/>
                </a:solidFill>
              </a:defRPr>
            </a:pPr>
            <a:r>
              <a:t>•  Robust compliance framework (HIPAA, GDPR, CCPA) and ongoing SOC 2/ISO 27001 certifications mitigate regulatory risk.</a:t>
            </a:r>
          </a:p>
        </p:txBody>
      </p:sp>
      <p:sp>
        <p:nvSpPr>
          <p:cNvPr id="5" name="Rounded Rectangle 4"/>
          <p:cNvSpPr/>
          <p:nvPr/>
        </p:nvSpPr>
        <p:spPr>
          <a:xfrm>
            <a:off x="6309360" y="1554480"/>
            <a:ext cx="4937760" cy="4389120"/>
          </a:xfrm>
          <a:prstGeom prst="roundRect">
            <a:avLst/>
          </a:prstGeom>
          <a:solidFill>
            <a:srgbClr val="111827"/>
          </a:solidFill>
          <a:ln w="12700">
            <a:solidFill>
              <a:srgbClr val="374151"/>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rIns="365760"/>
          <a:lstStyle/>
          <a:p>
            <a:pPr algn="ctr">
              <a:spcAft>
                <a:spcPts val="400"/>
              </a:spcAft>
              <a:defRPr sz="1200" b="1">
                <a:solidFill>
                  <a:srgbClr val="D4AF37"/>
                </a:solidFill>
              </a:defRPr>
            </a:pPr>
            <a:r>
              <a:t>PROPOSED USE OF FUNDS (%)</a:t>
            </a:r>
          </a:p>
        </p:txBody>
      </p:sp>
      <p:graphicFrame>
        <p:nvGraphicFramePr>
          <p:cNvPr id="6" name="Chart 5"/>
          <p:cNvGraphicFramePr>
            <a:graphicFrameLocks noGrp="1"/>
          </p:cNvGraphicFramePr>
          <p:nvPr/>
        </p:nvGraphicFramePr>
        <p:xfrm>
          <a:off x="6492240" y="2194560"/>
          <a:ext cx="4572000" cy="3474720"/>
        </p:xfrm>
        <a:graphic>
          <a:graphicData uri="http://schemas.openxmlformats.org/drawingml/2006/chart">
            <c:chart xmlns:c="http://schemas.openxmlformats.org/drawingml/2006/chart" r:id="rId2"/>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